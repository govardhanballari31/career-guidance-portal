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ovardhanballari111@gmail.com" initials="g" lastIdx="1" clrIdx="0">
    <p:extLst>
      <p:ext uri="{19B8F6BF-5375-455C-9EA6-DF929625EA0E}">
        <p15:presenceInfo xmlns:p15="http://schemas.microsoft.com/office/powerpoint/2012/main" userId="6bb7475b2d77557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896"/>
    <a:srgbClr val="10253F"/>
    <a:srgbClr val="111827"/>
    <a:srgbClr val="042218"/>
    <a:srgbClr val="3B1058"/>
    <a:srgbClr val="653151"/>
    <a:srgbClr val="270E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8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vardhanballari111@gmail.com" userId="6bb7475b2d775577" providerId="LiveId" clId="{48D8EE57-159A-4B49-8EF3-6B2C707E742A}"/>
    <pc:docChg chg="undo custSel modSld">
      <pc:chgData name="govardhanballari111@gmail.com" userId="6bb7475b2d775577" providerId="LiveId" clId="{48D8EE57-159A-4B49-8EF3-6B2C707E742A}" dt="2026-06-03T03:18:38.324" v="322" actId="1076"/>
      <pc:docMkLst>
        <pc:docMk/>
      </pc:docMkLst>
      <pc:sldChg chg="addSp delSp modSp mod addAnim delAnim">
        <pc:chgData name="govardhanballari111@gmail.com" userId="6bb7475b2d775577" providerId="LiveId" clId="{48D8EE57-159A-4B49-8EF3-6B2C707E742A}" dt="2026-06-03T03:15:42.302" v="303" actId="14100"/>
        <pc:sldMkLst>
          <pc:docMk/>
          <pc:sldMk cId="0" sldId="256"/>
        </pc:sldMkLst>
        <pc:spChg chg="mod">
          <ac:chgData name="govardhanballari111@gmail.com" userId="6bb7475b2d775577" providerId="LiveId" clId="{48D8EE57-159A-4B49-8EF3-6B2C707E742A}" dt="2026-06-03T03:15:29.117" v="302" actId="1076"/>
          <ac:spMkLst>
            <pc:docMk/>
            <pc:sldMk cId="0" sldId="256"/>
            <ac:spMk id="2" creationId="{00000000-0000-0000-0000-000000000000}"/>
          </ac:spMkLst>
        </pc:spChg>
        <pc:spChg chg="add del">
          <ac:chgData name="govardhanballari111@gmail.com" userId="6bb7475b2d775577" providerId="LiveId" clId="{48D8EE57-159A-4B49-8EF3-6B2C707E742A}" dt="2026-06-02T16:13:31.200" v="142" actId="11529"/>
          <ac:spMkLst>
            <pc:docMk/>
            <pc:sldMk cId="0" sldId="256"/>
            <ac:spMk id="3" creationId="{DB54492A-7460-D591-5E7F-A060CB96513D}"/>
          </ac:spMkLst>
        </pc:spChg>
        <pc:spChg chg="mod">
          <ac:chgData name="govardhanballari111@gmail.com" userId="6bb7475b2d775577" providerId="LiveId" clId="{48D8EE57-159A-4B49-8EF3-6B2C707E742A}" dt="2026-06-03T03:14:44.796" v="298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govardhanballari111@gmail.com" userId="6bb7475b2d775577" providerId="LiveId" clId="{48D8EE57-159A-4B49-8EF3-6B2C707E742A}" dt="2026-06-03T03:14:49.172" v="299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govardhanballari111@gmail.com" userId="6bb7475b2d775577" providerId="LiveId" clId="{48D8EE57-159A-4B49-8EF3-6B2C707E742A}" dt="2026-06-03T03:14:33.132" v="296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govardhanballari111@gmail.com" userId="6bb7475b2d775577" providerId="LiveId" clId="{48D8EE57-159A-4B49-8EF3-6B2C707E742A}" dt="2026-06-03T03:15:42.302" v="303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govardhanballari111@gmail.com" userId="6bb7475b2d775577" providerId="LiveId" clId="{48D8EE57-159A-4B49-8EF3-6B2C707E742A}" dt="2026-06-03T03:14:15.805" v="294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govardhanballari111@gmail.com" userId="6bb7475b2d775577" providerId="LiveId" clId="{48D8EE57-159A-4B49-8EF3-6B2C707E742A}" dt="2026-06-03T03:14:05.725" v="293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govardhanballari111@gmail.com" userId="6bb7475b2d775577" providerId="LiveId" clId="{48D8EE57-159A-4B49-8EF3-6B2C707E742A}" dt="2026-06-03T03:14:01.733" v="292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govardhanballari111@gmail.com" userId="6bb7475b2d775577" providerId="LiveId" clId="{48D8EE57-159A-4B49-8EF3-6B2C707E742A}" dt="2026-06-03T03:13:58.156" v="291" actId="1076"/>
          <ac:spMkLst>
            <pc:docMk/>
            <pc:sldMk cId="0" sldId="256"/>
            <ac:spMk id="24" creationId="{00000000-0000-0000-0000-000000000000}"/>
          </ac:spMkLst>
        </pc:spChg>
        <pc:spChg chg="add">
          <ac:chgData name="govardhanballari111@gmail.com" userId="6bb7475b2d775577" providerId="LiveId" clId="{48D8EE57-159A-4B49-8EF3-6B2C707E742A}" dt="2026-06-02T16:14:35.934" v="150" actId="11529"/>
          <ac:spMkLst>
            <pc:docMk/>
            <pc:sldMk cId="0" sldId="256"/>
            <ac:spMk id="25" creationId="{C9CFEF86-CFE7-4574-1FB8-479F0B41AE1F}"/>
          </ac:spMkLst>
        </pc:spChg>
        <pc:picChg chg="add mod">
          <ac:chgData name="govardhanballari111@gmail.com" userId="6bb7475b2d775577" providerId="LiveId" clId="{48D8EE57-159A-4B49-8EF3-6B2C707E742A}" dt="2026-06-03T02:39:58.130" v="156" actId="14100"/>
          <ac:picMkLst>
            <pc:docMk/>
            <pc:sldMk cId="0" sldId="256"/>
            <ac:picMk id="26" creationId="{3E09DE4A-AE50-6A26-335B-081E1FF1AA1D}"/>
          </ac:picMkLst>
        </pc:picChg>
      </pc:sldChg>
      <pc:sldChg chg="addSp modSp mod">
        <pc:chgData name="govardhanballari111@gmail.com" userId="6bb7475b2d775577" providerId="LiveId" clId="{48D8EE57-159A-4B49-8EF3-6B2C707E742A}" dt="2026-06-03T03:18:38.324" v="322" actId="1076"/>
        <pc:sldMkLst>
          <pc:docMk/>
          <pc:sldMk cId="0" sldId="269"/>
        </pc:sldMkLst>
        <pc:spChg chg="mod">
          <ac:chgData name="govardhanballari111@gmail.com" userId="6bb7475b2d775577" providerId="LiveId" clId="{48D8EE57-159A-4B49-8EF3-6B2C707E742A}" dt="2026-05-22T18:00:01.223" v="37" actId="1038"/>
          <ac:spMkLst>
            <pc:docMk/>
            <pc:sldMk cId="0" sldId="269"/>
            <ac:spMk id="2" creationId="{00000000-0000-0000-0000-000000000000}"/>
          </ac:spMkLst>
        </pc:spChg>
        <pc:spChg chg="mod">
          <ac:chgData name="govardhanballari111@gmail.com" userId="6bb7475b2d775577" providerId="LiveId" clId="{48D8EE57-159A-4B49-8EF3-6B2C707E742A}" dt="2026-06-03T03:03:55.747" v="193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govardhanballari111@gmail.com" userId="6bb7475b2d775577" providerId="LiveId" clId="{48D8EE57-159A-4B49-8EF3-6B2C707E742A}" dt="2026-06-02T16:18:04.915" v="151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govardhanballari111@gmail.com" userId="6bb7475b2d775577" providerId="LiveId" clId="{48D8EE57-159A-4B49-8EF3-6B2C707E742A}" dt="2026-06-03T02:43:59.046" v="187" actId="255"/>
          <ac:spMkLst>
            <pc:docMk/>
            <pc:sldMk cId="0" sldId="269"/>
            <ac:spMk id="10" creationId="{00000000-0000-0000-0000-000000000000}"/>
          </ac:spMkLst>
        </pc:spChg>
        <pc:spChg chg="mod">
          <ac:chgData name="govardhanballari111@gmail.com" userId="6bb7475b2d775577" providerId="LiveId" clId="{48D8EE57-159A-4B49-8EF3-6B2C707E742A}" dt="2026-06-03T02:51:28.994" v="190" actId="2057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govardhanballari111@gmail.com" userId="6bb7475b2d775577" providerId="LiveId" clId="{48D8EE57-159A-4B49-8EF3-6B2C707E742A}" dt="2026-06-03T03:18:26.527" v="321" actId="255"/>
          <ac:spMkLst>
            <pc:docMk/>
            <pc:sldMk cId="0" sldId="269"/>
            <ac:spMk id="13" creationId="{00000000-0000-0000-0000-000000000000}"/>
          </ac:spMkLst>
        </pc:spChg>
        <pc:spChg chg="mod">
          <ac:chgData name="govardhanballari111@gmail.com" userId="6bb7475b2d775577" providerId="LiveId" clId="{48D8EE57-159A-4B49-8EF3-6B2C707E742A}" dt="2026-06-03T03:18:38.324" v="322" actId="1076"/>
          <ac:spMkLst>
            <pc:docMk/>
            <pc:sldMk cId="0" sldId="269"/>
            <ac:spMk id="14" creationId="{00000000-0000-0000-0000-000000000000}"/>
          </ac:spMkLst>
        </pc:spChg>
        <pc:spChg chg="add mod">
          <ac:chgData name="govardhanballari111@gmail.com" userId="6bb7475b2d775577" providerId="LiveId" clId="{48D8EE57-159A-4B49-8EF3-6B2C707E742A}" dt="2026-06-03T03:18:00.172" v="320" actId="1076"/>
          <ac:spMkLst>
            <pc:docMk/>
            <pc:sldMk cId="0" sldId="269"/>
            <ac:spMk id="16" creationId="{8CA0F6A2-B515-6066-FDE8-A026230DD53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385E9-CB68-4052-8D83-AEEB3A4C828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65872B-F5D4-4561-90DB-D8C7A202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28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5872B-F5D4-4561-90DB-D8C7A20228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815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3427" y="1417951"/>
            <a:ext cx="3205213" cy="321868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1648" y="1557723"/>
            <a:ext cx="3250743" cy="3838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 dirty="0">
                <a:solidFill>
                  <a:srgbClr val="00C896"/>
                </a:solidFill>
                <a:latin typeface="Consolas"/>
              </a:rPr>
              <a:t>CSP PROJECT  </a:t>
            </a:r>
            <a:r>
              <a:rPr lang="en-US" sz="1400" b="1" dirty="0">
                <a:solidFill>
                  <a:srgbClr val="00C896"/>
                </a:solidFill>
                <a:latin typeface="Consolas"/>
              </a:rPr>
              <a:t>BY </a:t>
            </a:r>
            <a:r>
              <a:rPr sz="1400" b="1" dirty="0">
                <a:solidFill>
                  <a:srgbClr val="00C896"/>
                </a:solidFill>
                <a:latin typeface="Consolas"/>
              </a:rPr>
              <a:t> B.TECH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648" y="2054858"/>
            <a:ext cx="82296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 dirty="0">
                <a:solidFill>
                  <a:srgbClr val="F0F4FF"/>
                </a:solidFill>
                <a:latin typeface="Calibri"/>
              </a:rPr>
              <a:t>Career Guidance</a:t>
            </a:r>
            <a:r>
              <a:rPr lang="en-US" sz="5200" b="1" dirty="0">
                <a:solidFill>
                  <a:srgbClr val="F0F4FF"/>
                </a:solidFill>
                <a:latin typeface="Calibri"/>
              </a:rPr>
              <a:t> Workshops</a:t>
            </a:r>
            <a:endParaRPr sz="5200" b="1" i="0" dirty="0">
              <a:solidFill>
                <a:srgbClr val="F0F4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7620" y="2971800"/>
            <a:ext cx="40409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C000"/>
                </a:solidFill>
                <a:latin typeface="Calibri"/>
              </a:rPr>
              <a:t> </a:t>
            </a:r>
            <a:r>
              <a:rPr lang="en-US" sz="4000" b="1" dirty="0">
                <a:solidFill>
                  <a:srgbClr val="00C896"/>
                </a:solidFill>
                <a:latin typeface="Calibri"/>
              </a:rPr>
              <a:t>PPT Presentation</a:t>
            </a:r>
            <a:endParaRPr sz="4000" b="1" dirty="0">
              <a:solidFill>
                <a:srgbClr val="00C896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7813" y="4901863"/>
            <a:ext cx="108926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chemeClr val="bg2"/>
                </a:solidFill>
                <a:latin typeface="Calibri"/>
              </a:rPr>
              <a:t>A comprehensive career guide for</a:t>
            </a:r>
            <a:r>
              <a:rPr lang="en-US" b="0" i="0" dirty="0">
                <a:solidFill>
                  <a:schemeClr val="bg2"/>
                </a:solidFill>
                <a:latin typeface="Calibri"/>
              </a:rPr>
              <a:t> 10</a:t>
            </a:r>
            <a:r>
              <a:rPr lang="en-US" b="0" i="0" baseline="30000" dirty="0">
                <a:solidFill>
                  <a:schemeClr val="bg2"/>
                </a:solidFill>
                <a:latin typeface="Calibri"/>
              </a:rPr>
              <a:t>th</a:t>
            </a:r>
            <a:r>
              <a:rPr lang="en-US" b="0" i="0" dirty="0">
                <a:solidFill>
                  <a:schemeClr val="bg2"/>
                </a:solidFill>
                <a:latin typeface="Calibri"/>
              </a:rPr>
              <a:t> and </a:t>
            </a:r>
            <a:r>
              <a:rPr b="0" i="0" dirty="0">
                <a:solidFill>
                  <a:schemeClr val="bg2"/>
                </a:solidFill>
                <a:latin typeface="Calibri"/>
              </a:rPr>
              <a:t> Intermediate</a:t>
            </a:r>
            <a:r>
              <a:rPr lang="en-US" b="0" i="0" dirty="0">
                <a:solidFill>
                  <a:schemeClr val="bg2"/>
                </a:solidFill>
                <a:latin typeface="Calibri"/>
              </a:rPr>
              <a:t> Students</a:t>
            </a:r>
            <a:r>
              <a:rPr b="0" i="0" dirty="0">
                <a:solidFill>
                  <a:schemeClr val="bg2"/>
                </a:solidFill>
                <a:latin typeface="Calibri"/>
              </a:rPr>
              <a:t> (</a:t>
            </a:r>
            <a:r>
              <a:rPr lang="en-US" b="0" i="0" dirty="0">
                <a:solidFill>
                  <a:schemeClr val="bg2"/>
                </a:solidFill>
                <a:latin typeface="Calibri"/>
              </a:rPr>
              <a:t> 10,</a:t>
            </a:r>
            <a:r>
              <a:rPr b="0" i="0" dirty="0">
                <a:solidFill>
                  <a:schemeClr val="bg2"/>
                </a:solidFill>
                <a:latin typeface="Calibri"/>
              </a:rPr>
              <a:t>10+2</a:t>
            </a:r>
            <a:r>
              <a:rPr lang="en-US" b="0" i="0" dirty="0">
                <a:solidFill>
                  <a:schemeClr val="bg2"/>
                </a:solidFill>
                <a:latin typeface="Calibri"/>
              </a:rPr>
              <a:t> </a:t>
            </a:r>
            <a:r>
              <a:rPr b="0" i="0" dirty="0">
                <a:solidFill>
                  <a:schemeClr val="bg2"/>
                </a:solidFill>
                <a:latin typeface="Calibri"/>
              </a:rPr>
              <a:t>) students — covering all 8 streams:
Science · Commerce · Arts · Emerging Tech · Professional · </a:t>
            </a:r>
            <a:r>
              <a:rPr lang="en-US" dirty="0">
                <a:solidFill>
                  <a:schemeClr val="bg2"/>
                </a:solidFill>
                <a:latin typeface="Calibri"/>
              </a:rPr>
              <a:t>Vocational</a:t>
            </a:r>
            <a:r>
              <a:rPr b="0" i="0" dirty="0">
                <a:solidFill>
                  <a:schemeClr val="bg2"/>
                </a:solidFill>
                <a:latin typeface="Calibri"/>
              </a:rPr>
              <a:t> · ITI · Polytechnic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833" y="3886200"/>
            <a:ext cx="2103120" cy="868680"/>
          </a:xfrm>
          <a:prstGeom prst="rect">
            <a:avLst/>
          </a:prstGeom>
          <a:solidFill>
            <a:srgbClr val="111827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393192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F4FF"/>
                </a:solidFill>
                <a:latin typeface="Calibr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chemeClr val="bg2"/>
                </a:solidFill>
                <a:latin typeface="Consolas"/>
              </a:rPr>
              <a:t>STREAMS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3886200"/>
            <a:ext cx="2103120" cy="868680"/>
          </a:xfrm>
          <a:prstGeom prst="rect">
            <a:avLst/>
          </a:prstGeom>
          <a:solidFill>
            <a:srgbClr val="111827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88920" y="393192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0F4FF"/>
                </a:solidFill>
                <a:latin typeface="Calibri"/>
              </a:rPr>
              <a:t>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chemeClr val="bg2"/>
                </a:solidFill>
                <a:latin typeface="Consolas"/>
              </a:rPr>
              <a:t>CAREERS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3886200"/>
            <a:ext cx="2103120" cy="868680"/>
          </a:xfrm>
          <a:prstGeom prst="rect">
            <a:avLst/>
          </a:prstGeom>
          <a:solidFill>
            <a:srgbClr val="111827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6360" y="393192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F4FF"/>
                </a:solidFill>
                <a:latin typeface="Calibri"/>
              </a:rPr>
              <a:t>12+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chemeClr val="bg2"/>
                </a:solidFill>
                <a:latin typeface="Consolas"/>
              </a:rPr>
              <a:t>SCHOLARSHIPS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3886200"/>
            <a:ext cx="2103120" cy="868680"/>
          </a:xfrm>
          <a:prstGeom prst="rect">
            <a:avLst/>
          </a:prstGeom>
          <a:solidFill>
            <a:srgbClr val="111827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393192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F4FF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chemeClr val="bg2"/>
                </a:solidFill>
                <a:latin typeface="Consolas"/>
              </a:rPr>
              <a:t>MENTORS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56662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8B9AB8"/>
                </a:solidFill>
                <a:latin typeface="Consolas"/>
              </a:rPr>
              <a:t>Presented by</a:t>
            </a:r>
            <a:r>
              <a:rPr lang="en-US" sz="1200" dirty="0">
                <a:solidFill>
                  <a:srgbClr val="8B9AB8"/>
                </a:solidFill>
                <a:latin typeface="Consolas"/>
              </a:rPr>
              <a:t> : Ballari Govardhan</a:t>
            </a:r>
            <a:endParaRPr sz="1200" b="0" i="0" dirty="0">
              <a:solidFill>
                <a:srgbClr val="8B9AB8"/>
              </a:solidFill>
              <a:latin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7620" y="5997157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0C896"/>
                </a:solidFill>
                <a:latin typeface="Consolas"/>
              </a:rPr>
              <a:t>GATES INSTITUTE OF TECHNOLOGY</a:t>
            </a:r>
            <a:r>
              <a:rPr b="0" i="0" dirty="0">
                <a:solidFill>
                  <a:srgbClr val="00C896"/>
                </a:solidFill>
                <a:latin typeface="Consolas"/>
              </a:rPr>
              <a:t> </a:t>
            </a:r>
            <a:r>
              <a:rPr lang="en-US" b="0" i="0" dirty="0">
                <a:solidFill>
                  <a:srgbClr val="00C896"/>
                </a:solidFill>
                <a:latin typeface="Consolas"/>
              </a:rPr>
              <a:t>GOOTY</a:t>
            </a:r>
            <a:r>
              <a:rPr b="0" i="0" dirty="0">
                <a:solidFill>
                  <a:srgbClr val="00C896"/>
                </a:solidFill>
                <a:latin typeface="Consolas"/>
              </a:rPr>
              <a:t> ·  </a:t>
            </a:r>
            <a:r>
              <a:rPr b="0" i="0" dirty="0" err="1">
                <a:solidFill>
                  <a:srgbClr val="00C896"/>
                </a:solidFill>
                <a:latin typeface="Consolas"/>
              </a:rPr>
              <a:t>B.Tech</a:t>
            </a:r>
            <a:r>
              <a:rPr b="0" i="0" dirty="0">
                <a:solidFill>
                  <a:srgbClr val="00C896"/>
                </a:solidFill>
                <a:latin typeface="Consolas"/>
              </a:rPr>
              <a:t> CSE  ·  202</a:t>
            </a:r>
            <a:r>
              <a:rPr lang="en-US" b="0" i="0" dirty="0">
                <a:solidFill>
                  <a:srgbClr val="00C896"/>
                </a:solidFill>
                <a:latin typeface="Consolas"/>
              </a:rPr>
              <a:t>4-2028</a:t>
            </a:r>
            <a:endParaRPr b="0" i="0" dirty="0">
              <a:solidFill>
                <a:srgbClr val="00C896"/>
              </a:solidFill>
              <a:latin typeface="Consola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" y="5715000"/>
            <a:ext cx="11704320" cy="9144"/>
          </a:xfrm>
          <a:prstGeom prst="rect">
            <a:avLst/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7620" y="6451387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bg2"/>
                </a:solidFill>
                <a:latin typeface="Consolas"/>
              </a:rPr>
              <a:t>Career guidance for educational purposes only  ·  Data sourced from govt &amp; industry reports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CFEF86-CFE7-4574-1FB8-479F0B41AE1F}"/>
              </a:ext>
            </a:extLst>
          </p:cNvPr>
          <p:cNvSpPr/>
          <p:nvPr/>
        </p:nvSpPr>
        <p:spPr>
          <a:xfrm>
            <a:off x="91440" y="0"/>
            <a:ext cx="12097385" cy="11527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E09DE4A-AE50-6A26-335B-081E1FF1A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1" y="41517"/>
            <a:ext cx="12097384" cy="11112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1463040" cy="237744"/>
          </a:xfrm>
          <a:prstGeom prst="rect">
            <a:avLst/>
          </a:prstGeom>
          <a:solidFill>
            <a:srgbClr val="0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SLIDE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  <a:latin typeface="Calibri"/>
              </a:rPr>
              <a:t>About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33856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8B9AB8"/>
                </a:solidFill>
                <a:latin typeface="Calibri"/>
              </a:rPr>
              <a:t>Why career guidance matters for</a:t>
            </a:r>
            <a:r>
              <a:rPr lang="en-US" sz="1300" b="0" i="0" dirty="0">
                <a:solidFill>
                  <a:srgbClr val="8B9AB8"/>
                </a:solidFill>
                <a:latin typeface="Calibri"/>
              </a:rPr>
              <a:t> 10</a:t>
            </a:r>
            <a:r>
              <a:rPr lang="en-US" sz="1300" b="0" i="0" baseline="30000" dirty="0">
                <a:solidFill>
                  <a:srgbClr val="8B9AB8"/>
                </a:solidFill>
                <a:latin typeface="Calibri"/>
              </a:rPr>
              <a:t>th</a:t>
            </a:r>
            <a:r>
              <a:rPr lang="en-US" sz="1300" b="0" i="0" dirty="0">
                <a:solidFill>
                  <a:srgbClr val="8B9AB8"/>
                </a:solidFill>
                <a:latin typeface="Calibri"/>
              </a:rPr>
              <a:t>  and </a:t>
            </a:r>
            <a:r>
              <a:rPr sz="1300" b="0" i="0" dirty="0">
                <a:solidFill>
                  <a:srgbClr val="8B9AB8"/>
                </a:solidFill>
                <a:latin typeface="Calibri"/>
              </a:rPr>
              <a:t> intermediate students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91640"/>
            <a:ext cx="3749039" cy="219456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810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4FF"/>
                </a:solidFill>
                <a:latin typeface="Calibri"/>
              </a:rPr>
              <a:t>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4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33472"/>
            <a:ext cx="3383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8B9AB8"/>
                </a:solidFill>
                <a:latin typeface="Calibri"/>
              </a:rPr>
              <a:t>Thousands of intermediate students choose careers based on peer pressure, </a:t>
            </a:r>
            <a:r>
              <a:rPr lang="en-US" sz="1400" b="0" i="0" dirty="0">
                <a:solidFill>
                  <a:srgbClr val="8B9AB8"/>
                </a:solidFill>
                <a:latin typeface="Calibri"/>
              </a:rPr>
              <a:t>family </a:t>
            </a:r>
            <a:r>
              <a:rPr sz="1400" b="0" i="0" dirty="0">
                <a:solidFill>
                  <a:srgbClr val="8B9AB8"/>
                </a:solidFill>
                <a:latin typeface="Calibri"/>
              </a:rPr>
              <a:t>expectations, or limited information — not their actual strengths or interests.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91640"/>
            <a:ext cx="3749039" cy="219456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810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4FF"/>
                </a:solidFill>
                <a:latin typeface="Calibr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4FF"/>
                </a:solidFill>
                <a:latin typeface="Calibri"/>
              </a:rPr>
              <a:t>Our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33472"/>
            <a:ext cx="33832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8B9AB8"/>
                </a:solidFill>
                <a:latin typeface="Calibri"/>
              </a:rPr>
              <a:t>To present clear, honest, and comprehensive career options across ALL streams — including ITI, Polytechnic and Vocational — not just engineering and medicine.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691640"/>
            <a:ext cx="3749039" cy="219456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59" y="1810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4FF"/>
                </a:solidFill>
                <a:latin typeface="Calibri"/>
              </a:rP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4FF"/>
                </a:solidFill>
                <a:latin typeface="Calibri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633472"/>
            <a:ext cx="3383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8B9AB8"/>
                </a:solidFill>
                <a:latin typeface="Calibri"/>
              </a:rPr>
              <a:t>An interactive portal + presentation covering 8 streams, 50+ careers, entrance exams, salary ranges, gains, struggles, roadmaps, scholarships and mentors.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60520"/>
            <a:ext cx="2743200" cy="82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20624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96"/>
                </a:solidFill>
                <a:latin typeface="Calibri"/>
              </a:rPr>
              <a:t>50+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3708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8"/>
                </a:solidFill>
                <a:latin typeface="Calibri"/>
              </a:rPr>
              <a:t>career options covered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4160520"/>
            <a:ext cx="2743200" cy="82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91840" y="420624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96"/>
                </a:solidFill>
                <a:latin typeface="Calibri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3708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B9AB8"/>
                </a:solidFill>
                <a:latin typeface="Calibri"/>
              </a:rPr>
              <a:t>streams explored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4160520"/>
            <a:ext cx="2743200" cy="82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420624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96"/>
                </a:solidFill>
                <a:latin typeface="Calibri"/>
              </a:rPr>
              <a:t>12+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3708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8"/>
                </a:solidFill>
                <a:latin typeface="Calibri"/>
              </a:rPr>
              <a:t>scholarships listed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4160520"/>
            <a:ext cx="2743200" cy="82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0" y="420624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96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708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8"/>
                </a:solidFill>
                <a:latin typeface="Calibri"/>
              </a:rPr>
              <a:t>mentor stories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538091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chemeClr val="bg1"/>
                </a:solidFill>
                <a:latin typeface="Consolas"/>
              </a:rPr>
              <a:t>Built with Python · Presented live · HTML version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1463040" cy="237744"/>
          </a:xfrm>
          <a:prstGeom prst="rect">
            <a:avLst/>
          </a:prstGeom>
          <a:solidFill>
            <a:srgbClr val="0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SLIDE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  <a:latin typeface="Calibri"/>
              </a:rPr>
              <a:t>8 Career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33856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chemeClr val="bg2"/>
                </a:solidFill>
                <a:latin typeface="Calibri"/>
              </a:rPr>
              <a:t>All paths available after</a:t>
            </a:r>
            <a:r>
              <a:rPr lang="en-US" sz="1300" b="0" i="0" dirty="0">
                <a:solidFill>
                  <a:schemeClr val="bg2"/>
                </a:solidFill>
                <a:latin typeface="Calibri"/>
              </a:rPr>
              <a:t> 10</a:t>
            </a:r>
            <a:r>
              <a:rPr lang="en-US" sz="1300" b="0" i="0" baseline="30000" dirty="0">
                <a:solidFill>
                  <a:schemeClr val="bg2"/>
                </a:solidFill>
                <a:latin typeface="Calibri"/>
              </a:rPr>
              <a:t>th</a:t>
            </a:r>
            <a:r>
              <a:rPr lang="en-US" sz="1300" b="0" i="0" dirty="0">
                <a:solidFill>
                  <a:schemeClr val="bg2"/>
                </a:solidFill>
                <a:latin typeface="Calibri"/>
              </a:rPr>
              <a:t> and </a:t>
            </a:r>
            <a:r>
              <a:rPr sz="1300" b="0" i="0" dirty="0">
                <a:solidFill>
                  <a:schemeClr val="bg2"/>
                </a:solidFill>
                <a:latin typeface="Calibri"/>
              </a:rPr>
              <a:t> Intermediate</a:t>
            </a:r>
            <a:r>
              <a:rPr lang="en-US" sz="1300" b="0" i="0" dirty="0">
                <a:solidFill>
                  <a:schemeClr val="bg2"/>
                </a:solidFill>
                <a:latin typeface="Calibri"/>
              </a:rPr>
              <a:t> students</a:t>
            </a:r>
            <a:r>
              <a:rPr sz="1300" b="0" i="0" dirty="0">
                <a:solidFill>
                  <a:schemeClr val="bg2"/>
                </a:solidFill>
                <a:latin typeface="Calibri"/>
              </a:rPr>
              <a:t> (</a:t>
            </a:r>
            <a:r>
              <a:rPr lang="en-US" sz="1300" b="0" i="0" dirty="0">
                <a:solidFill>
                  <a:schemeClr val="bg2"/>
                </a:solidFill>
                <a:latin typeface="Calibri"/>
              </a:rPr>
              <a:t>10 , </a:t>
            </a:r>
            <a:r>
              <a:rPr sz="1300" b="0" i="0" dirty="0">
                <a:solidFill>
                  <a:schemeClr val="bg2"/>
                </a:solidFill>
                <a:latin typeface="Calibri"/>
              </a:rPr>
              <a:t>10+2)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00200"/>
            <a:ext cx="2743200" cy="169164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600200"/>
            <a:ext cx="64008" cy="16916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7099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F"/>
                </a:solidFill>
                <a:latin typeface="Calibri"/>
              </a:rPr>
              <a:t>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647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  <a:latin typeface="Calibri"/>
              </a:rPr>
              <a:t>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3911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8"/>
                </a:solidFill>
                <a:latin typeface="Calibri"/>
              </a:rPr>
              <a:t>PCM / PCB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37744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878"/>
                </a:solidFill>
                <a:latin typeface="Consolas"/>
              </a:rPr>
              <a:t>JEE · NEET ·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6060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₹4–50 LPA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600200"/>
            <a:ext cx="2743200" cy="169164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54680" y="1600200"/>
            <a:ext cx="64008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19272" y="17099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F"/>
                </a:solidFill>
                <a:latin typeface="Calibri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17647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  <a:latin typeface="Calibri"/>
              </a:rPr>
              <a:t>Commerce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03911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8"/>
                </a:solidFill>
                <a:latin typeface="Calibri"/>
              </a:rPr>
              <a:t>CA / MBA / Law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237744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878"/>
                </a:solidFill>
                <a:latin typeface="Consolas"/>
              </a:rPr>
              <a:t>CAT · CLAT · ICAI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26060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₹5–50 LPA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600200"/>
            <a:ext cx="2743200" cy="169164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80760" y="1600200"/>
            <a:ext cx="64008" cy="1691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45352" y="17099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F"/>
                </a:solidFill>
                <a:latin typeface="Calibri"/>
              </a:rPr>
              <a:t>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7647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  <a:latin typeface="Calibri"/>
              </a:rPr>
              <a:t>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03911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8"/>
                </a:solidFill>
                <a:latin typeface="Calibri"/>
              </a:rPr>
              <a:t>UPSC /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237744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878"/>
                </a:solidFill>
                <a:latin typeface="Consolas"/>
              </a:rPr>
              <a:t>UPSC · CLAT · NID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26060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₹3–30 LPA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600200"/>
            <a:ext cx="2743200" cy="169164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06840" y="1600200"/>
            <a:ext cx="64008" cy="16916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71432" y="17099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F"/>
                </a:solidFill>
                <a:latin typeface="Calibri"/>
              </a:rPr>
              <a:t>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17647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  <a:latin typeface="Calibri"/>
              </a:rPr>
              <a:t>Emerging Tech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03911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8"/>
                </a:solidFill>
                <a:latin typeface="Calibri"/>
              </a:rPr>
              <a:t>AI / Cyber / XR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1432" y="237744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A5878"/>
                </a:solidFill>
                <a:latin typeface="Consolas"/>
              </a:rPr>
              <a:t>Own skills · GitHub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1432" y="26060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₹6–60 LPA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3429000"/>
            <a:ext cx="2743200" cy="169164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28600" y="3429000"/>
            <a:ext cx="64008" cy="169164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3192" y="35387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F"/>
                </a:solidFill>
                <a:latin typeface="Calibri"/>
              </a:rPr>
              <a:t>⚕️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35935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  <a:latin typeface="Calibri"/>
              </a:rPr>
              <a:t>Professional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386791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8"/>
                </a:solidFill>
                <a:latin typeface="Calibri"/>
              </a:rPr>
              <a:t>New-Age Fields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" y="420624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878"/>
                </a:solidFill>
                <a:latin typeface="Consolas"/>
              </a:rPr>
              <a:t>NEET · Degree + Cert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" y="44348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7185"/>
                </a:solidFill>
                <a:latin typeface="Calibri"/>
              </a:rPr>
              <a:t>₹3–25 LPA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3429000"/>
            <a:ext cx="2743200" cy="169164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154680" y="3429000"/>
            <a:ext cx="64008" cy="16916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19272" y="35387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F"/>
                </a:solidFill>
                <a:latin typeface="Calibri"/>
              </a:rPr>
              <a:t>🛠️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35935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  <a:latin typeface="Calibri"/>
              </a:rPr>
              <a:t>Vocational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4760" y="386791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8"/>
                </a:solidFill>
                <a:latin typeface="Calibri"/>
              </a:rPr>
              <a:t>Short-term Skills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9272" y="420624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878"/>
                </a:solidFill>
                <a:latin typeface="Consolas"/>
              </a:rPr>
              <a:t>PMKVY · 6–12 months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9272" y="44348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₹2–20 LPA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3429000"/>
            <a:ext cx="2743200" cy="169164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80760" y="3429000"/>
            <a:ext cx="64008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45352" y="35387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F"/>
                </a:solidFill>
                <a:latin typeface="Calibri"/>
              </a:rPr>
              <a:t>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35935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  <a:latin typeface="Calibri"/>
              </a:rPr>
              <a:t>ITI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386791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8"/>
                </a:solidFill>
                <a:latin typeface="Calibri"/>
              </a:rPr>
              <a:t>Trade Courses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45352" y="420624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878"/>
                </a:solidFill>
                <a:latin typeface="Consolas"/>
              </a:rPr>
              <a:t>State ITI Entrance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45352" y="44348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₹2–10 LPA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6840" y="3429000"/>
            <a:ext cx="2743200" cy="169164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006840" y="3429000"/>
            <a:ext cx="64008" cy="1691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171432" y="35387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F"/>
                </a:solidFill>
                <a:latin typeface="Calibri"/>
              </a:rPr>
              <a:t>🏗️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35935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  <a:latin typeface="Calibri"/>
              </a:rPr>
              <a:t>Polytechnic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46920" y="386791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8"/>
                </a:solidFill>
                <a:latin typeface="Calibri"/>
              </a:rPr>
              <a:t>3-yr Diploma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71432" y="420624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878"/>
                </a:solidFill>
                <a:latin typeface="Consolas"/>
              </a:rPr>
              <a:t>POLYCET / DOTE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71432" y="44348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₹2.5–10 LPA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1463040" cy="237744"/>
          </a:xfrm>
          <a:prstGeom prst="rect">
            <a:avLst/>
          </a:prstGeom>
          <a:solidFill>
            <a:srgbClr val="0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SLIDE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  <a:latin typeface="Calibri"/>
              </a:rPr>
              <a:t>Science Stream Careers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8248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8B9AB8"/>
                </a:solidFill>
                <a:latin typeface="Calibri"/>
              </a:rPr>
              <a:t>PCM / PCB — Engineering · Medicine · Research · ECE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1417319"/>
            <a:ext cx="5778882" cy="2542033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37360"/>
            <a:ext cx="4297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Computer Science &amp; Engg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746504"/>
            <a:ext cx="1261872" cy="237744"/>
          </a:xfrm>
          <a:prstGeom prst="rect">
            <a:avLst/>
          </a:prstGeom>
          <a:solidFill>
            <a:srgbClr val="0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₹6–50 LPA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2231136"/>
            <a:ext cx="5431536" cy="9144"/>
          </a:xfrm>
          <a:prstGeom prst="rect">
            <a:avLst/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3192" y="2322576"/>
            <a:ext cx="1371600" cy="219456"/>
          </a:xfrm>
          <a:prstGeom prst="rect">
            <a:avLst/>
          </a:prstGeom>
          <a:solidFill>
            <a:srgbClr val="0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EA5E9"/>
                </a:solidFill>
                <a:latin typeface="Consolas"/>
              </a:rPr>
              <a:t>JEE/BITSAT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56232" y="2322576"/>
            <a:ext cx="1371600" cy="219456"/>
          </a:xfrm>
          <a:prstGeom prst="rect">
            <a:avLst/>
          </a:prstGeom>
          <a:solidFill>
            <a:srgbClr val="042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4yr B.Tech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9272" y="2322576"/>
            <a:ext cx="1371600" cy="219456"/>
          </a:xfrm>
          <a:prstGeom prst="rect">
            <a:avLst/>
          </a:prstGeom>
          <a:solidFill>
            <a:srgbClr val="352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BBF24"/>
                </a:solidFill>
                <a:latin typeface="Consolas"/>
              </a:rPr>
              <a:t>GATE/GRE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2651760"/>
            <a:ext cx="5431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onsolas"/>
              </a:rPr>
              <a:t>Scope: 96%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2834639"/>
            <a:ext cx="5431536" cy="64008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93192" y="2834639"/>
            <a:ext cx="5214274" cy="640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3192" y="2990088"/>
            <a:ext cx="2715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96"/>
                </a:solidFill>
                <a:latin typeface="Consolas"/>
              </a:rPr>
              <a:t>▸ Gains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990088"/>
            <a:ext cx="2715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onsolas"/>
              </a:rPr>
              <a:t>▸ Struggles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" y="3191256"/>
            <a:ext cx="262432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• Top salaries in India
• Remote &amp; global work
• Multiple specialisations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191256"/>
            <a:ext cx="262432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• Constant upskilling
• High competition
• Work-life issues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199" y="1431036"/>
            <a:ext cx="5788025" cy="2500884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5936" y="1691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F0F4FF"/>
                </a:solidFill>
                <a:latin typeface="Calibri"/>
              </a:rPr>
              <a:t>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1737360"/>
            <a:ext cx="4297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Medicine — MBBS/BDS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0" y="1746504"/>
            <a:ext cx="1261872" cy="237744"/>
          </a:xfrm>
          <a:prstGeom prst="rect">
            <a:avLst/>
          </a:prstGeom>
          <a:solidFill>
            <a:srgbClr val="0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₹5–30 LPA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36792" y="2231136"/>
            <a:ext cx="5431536" cy="9144"/>
          </a:xfrm>
          <a:prstGeom prst="rect">
            <a:avLst/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36792" y="2322576"/>
            <a:ext cx="1371600" cy="219456"/>
          </a:xfrm>
          <a:prstGeom prst="rect">
            <a:avLst/>
          </a:prstGeom>
          <a:solidFill>
            <a:srgbClr val="0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EA5E9"/>
                </a:solidFill>
                <a:latin typeface="Consolas"/>
              </a:rPr>
              <a:t>NEET-UG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99831" y="2322576"/>
            <a:ext cx="1371600" cy="219456"/>
          </a:xfrm>
          <a:prstGeom prst="rect">
            <a:avLst/>
          </a:prstGeom>
          <a:solidFill>
            <a:srgbClr val="042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5.5yr MBBS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62872" y="2322576"/>
            <a:ext cx="1371600" cy="219456"/>
          </a:xfrm>
          <a:prstGeom prst="rect">
            <a:avLst/>
          </a:prstGeom>
          <a:solidFill>
            <a:srgbClr val="352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BBF24"/>
                </a:solidFill>
                <a:latin typeface="Consolas"/>
              </a:rPr>
              <a:t>PG Specialisation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2651760"/>
            <a:ext cx="5431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onsolas"/>
              </a:rPr>
              <a:t>Scope: 88%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36792" y="2834639"/>
            <a:ext cx="5431536" cy="64008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36792" y="2834639"/>
            <a:ext cx="4779751" cy="640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36792" y="2990088"/>
            <a:ext cx="2715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96"/>
                </a:solidFill>
                <a:latin typeface="Consolas"/>
              </a:rPr>
              <a:t>▸ Gains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59" y="2990088"/>
            <a:ext cx="2715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onsolas"/>
              </a:rPr>
              <a:t>▸ Struggles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3191256"/>
            <a:ext cx="262432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• Unmatched respect
• Govt hospital jobs
• Always in demand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59" y="3191256"/>
            <a:ext cx="262432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8B9AB8"/>
                </a:solidFill>
                <a:latin typeface="Calibri"/>
              </a:rPr>
              <a:t>• 11+ yrs to </a:t>
            </a:r>
            <a:r>
              <a:rPr sz="900" b="0" i="0" dirty="0" err="1">
                <a:solidFill>
                  <a:srgbClr val="8B9AB8"/>
                </a:solidFill>
                <a:latin typeface="Calibri"/>
              </a:rPr>
              <a:t>specialise</a:t>
            </a:r>
            <a:r>
              <a:rPr sz="900" b="0" i="0" dirty="0">
                <a:solidFill>
                  <a:srgbClr val="8B9AB8"/>
                </a:solidFill>
                <a:latin typeface="Calibri"/>
              </a:rPr>
              <a:t>
• Very high stress
• Private seats ₹50L+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5905" y="4095690"/>
            <a:ext cx="5742559" cy="2551176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Oval 38"/>
          <p:cNvSpPr/>
          <p:nvPr/>
        </p:nvSpPr>
        <p:spPr>
          <a:xfrm>
            <a:off x="393192" y="4983479"/>
            <a:ext cx="411480" cy="411480"/>
          </a:xfrm>
          <a:prstGeom prst="ellipse">
            <a:avLst/>
          </a:prstGeom>
          <a:solidFill>
            <a:srgbClr val="0D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06199" y="4277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F0F4FF"/>
                </a:solidFill>
                <a:latin typeface="Calibri"/>
              </a:rPr>
              <a:t>⚙️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781" y="4347561"/>
            <a:ext cx="4297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0F4FF"/>
                </a:solidFill>
                <a:latin typeface="Calibri"/>
              </a:rPr>
              <a:t>Mech / Civil Engineering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426003"/>
            <a:ext cx="1261872" cy="237744"/>
          </a:xfrm>
          <a:prstGeom prst="rect">
            <a:avLst/>
          </a:prstGeom>
          <a:solidFill>
            <a:srgbClr val="0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 dirty="0">
                <a:solidFill>
                  <a:srgbClr val="00C896"/>
                </a:solidFill>
                <a:latin typeface="Consolas"/>
              </a:rPr>
              <a:t>₹4–20 LPA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" y="5477255"/>
            <a:ext cx="5431536" cy="9144"/>
          </a:xfrm>
          <a:prstGeom prst="rect">
            <a:avLst/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93192" y="4832603"/>
            <a:ext cx="1371600" cy="219456"/>
          </a:xfrm>
          <a:prstGeom prst="rect">
            <a:avLst/>
          </a:prstGeom>
          <a:solidFill>
            <a:srgbClr val="0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 dirty="0">
                <a:solidFill>
                  <a:srgbClr val="0EA5E9"/>
                </a:solidFill>
                <a:latin typeface="Consolas"/>
              </a:rPr>
              <a:t>JEE Main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56232" y="4823049"/>
            <a:ext cx="1371600" cy="219456"/>
          </a:xfrm>
          <a:prstGeom prst="rect">
            <a:avLst/>
          </a:prstGeom>
          <a:solidFill>
            <a:srgbClr val="042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GATE / ESE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65119" y="4845909"/>
            <a:ext cx="1371600" cy="219456"/>
          </a:xfrm>
          <a:prstGeom prst="rect">
            <a:avLst/>
          </a:prstGeom>
          <a:solidFill>
            <a:srgbClr val="352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BBF24"/>
                </a:solidFill>
                <a:latin typeface="Consolas"/>
              </a:rPr>
              <a:t>PSU Jobs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6199" y="5056221"/>
            <a:ext cx="5431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8B9AB8"/>
                </a:solidFill>
                <a:latin typeface="Consolas"/>
              </a:rPr>
              <a:t>Scope: 72%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0057" y="5313536"/>
            <a:ext cx="5431536" cy="64008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02336" y="5315093"/>
            <a:ext cx="3910705" cy="640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06199" y="5502772"/>
            <a:ext cx="2715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00C896"/>
                </a:solidFill>
                <a:latin typeface="Consolas"/>
              </a:rPr>
              <a:t>▸ Gains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95825" y="5541350"/>
            <a:ext cx="2715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onsolas"/>
              </a:rPr>
              <a:t>▸ Struggles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880" y="5720313"/>
            <a:ext cx="262432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8B9AB8"/>
                </a:solidFill>
                <a:latin typeface="Calibri"/>
              </a:rPr>
              <a:t>• PSU opportunities
• Stable govt jobs
• Infra boom demand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95825" y="5735838"/>
            <a:ext cx="262432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8B9AB8"/>
                </a:solidFill>
                <a:latin typeface="Calibri"/>
              </a:rPr>
              <a:t>• Lower start salary
• Field in harsh conditions
• GATE competition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81216" y="4097128"/>
            <a:ext cx="5751703" cy="2549738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59066" y="424398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F0F4FF"/>
                </a:solidFill>
                <a:latin typeface="Calibri"/>
              </a:rPr>
              <a:t>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39" y="4291618"/>
            <a:ext cx="4297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0F4FF"/>
                </a:solidFill>
                <a:latin typeface="Calibri"/>
              </a:rPr>
              <a:t>Electronics &amp; Comm (ECE)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497311" y="4352544"/>
            <a:ext cx="1261872" cy="237744"/>
          </a:xfrm>
          <a:prstGeom prst="rect">
            <a:avLst/>
          </a:prstGeom>
          <a:solidFill>
            <a:srgbClr val="0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₹5–25 LPA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36792" y="5477255"/>
            <a:ext cx="5431536" cy="9144"/>
          </a:xfrm>
          <a:prstGeom prst="rect">
            <a:avLst/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341568" y="4787294"/>
            <a:ext cx="1371600" cy="219456"/>
          </a:xfrm>
          <a:prstGeom prst="rect">
            <a:avLst/>
          </a:prstGeom>
          <a:solidFill>
            <a:srgbClr val="0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EA5E9"/>
                </a:solidFill>
                <a:latin typeface="Consolas"/>
              </a:rPr>
              <a:t>JEE / BITSAT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18178" y="4790152"/>
            <a:ext cx="1371600" cy="219456"/>
          </a:xfrm>
          <a:prstGeom prst="rect">
            <a:avLst/>
          </a:prstGeom>
          <a:solidFill>
            <a:srgbClr val="042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 dirty="0" err="1">
                <a:solidFill>
                  <a:srgbClr val="00C896"/>
                </a:solidFill>
                <a:latin typeface="Consolas"/>
              </a:rPr>
              <a:t>B.Tech</a:t>
            </a:r>
            <a:r>
              <a:rPr sz="900" b="1" dirty="0">
                <a:solidFill>
                  <a:srgbClr val="00C896"/>
                </a:solidFill>
                <a:latin typeface="Consolas"/>
              </a:rPr>
              <a:t> ECE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94788" y="4788307"/>
            <a:ext cx="1371600" cy="219456"/>
          </a:xfrm>
          <a:prstGeom prst="rect">
            <a:avLst/>
          </a:prstGeom>
          <a:solidFill>
            <a:srgbClr val="352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BBF24"/>
                </a:solidFill>
                <a:latin typeface="Consolas"/>
              </a:rPr>
              <a:t>ISRO / DRDO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39" y="5042505"/>
            <a:ext cx="5431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8B9AB8"/>
                </a:solidFill>
                <a:latin typeface="Consolas"/>
              </a:rPr>
              <a:t>Scope: 82%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18964" y="5320504"/>
            <a:ext cx="5431536" cy="64008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336792" y="5321807"/>
            <a:ext cx="4453859" cy="640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59066" y="5458950"/>
            <a:ext cx="2715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00C896"/>
                </a:solidFill>
                <a:latin typeface="Consolas"/>
              </a:rPr>
              <a:t>▸ Gains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95992" y="5497294"/>
            <a:ext cx="2715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FBBF24"/>
                </a:solidFill>
                <a:latin typeface="Consolas"/>
              </a:rPr>
              <a:t>▸ Struggles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58614" y="5647071"/>
            <a:ext cx="262432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8B9AB8"/>
                </a:solidFill>
                <a:latin typeface="Calibri"/>
              </a:rPr>
              <a:t>• Semiconductor boom
• </a:t>
            </a:r>
            <a:r>
              <a:rPr sz="900" b="0" i="0" dirty="0" err="1">
                <a:solidFill>
                  <a:srgbClr val="8B9AB8"/>
                </a:solidFill>
                <a:latin typeface="Calibri"/>
              </a:rPr>
              <a:t>Defence</a:t>
            </a:r>
            <a:r>
              <a:rPr sz="900" b="0" i="0" dirty="0">
                <a:solidFill>
                  <a:srgbClr val="8B9AB8"/>
                </a:solidFill>
                <a:latin typeface="Calibri"/>
              </a:rPr>
              <a:t> &amp; ISRO roles
• HW + SW blend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96420" y="5690718"/>
            <a:ext cx="262432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8B9AB8"/>
                </a:solidFill>
                <a:latin typeface="Calibri"/>
              </a:rPr>
              <a:t>• Highly </a:t>
            </a:r>
            <a:r>
              <a:rPr sz="900" b="0" i="0" dirty="0" err="1">
                <a:solidFill>
                  <a:srgbClr val="8B9AB8"/>
                </a:solidFill>
                <a:latin typeface="Calibri"/>
              </a:rPr>
              <a:t>specialised</a:t>
            </a:r>
            <a:r>
              <a:rPr sz="900" b="0" i="0" dirty="0">
                <a:solidFill>
                  <a:srgbClr val="8B9AB8"/>
                </a:solidFill>
                <a:latin typeface="Calibri"/>
              </a:rPr>
              <a:t>
• Core jobs harder
• Evolves very rapidly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2336" y="1691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0F4FF"/>
                </a:solidFill>
                <a:latin typeface="Calibri"/>
              </a:rPr>
              <a:t>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1463040" cy="237744"/>
          </a:xfrm>
          <a:prstGeom prst="rect">
            <a:avLst/>
          </a:prstGeom>
          <a:solidFill>
            <a:srgbClr val="0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SLIDE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0F4FF"/>
                </a:solidFill>
                <a:latin typeface="Calibri"/>
              </a:rPr>
              <a:t>Commerce &amp; Arts Careers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338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  <a:latin typeface="Calibri"/>
              </a:rPr>
              <a:t>CA · MBA · Law · UPSC · Design · Journalism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5727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5E9"/>
                </a:solidFill>
                <a:latin typeface="Calibri"/>
              </a:rPr>
              <a:t>Commerce Stream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920240"/>
            <a:ext cx="5577840" cy="14173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FF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1920240"/>
            <a:ext cx="54864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9933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11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CA — Chartered Accountancy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0116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₹7–40 LPA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86000"/>
            <a:ext cx="4754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4A5878"/>
                </a:solidFill>
                <a:latin typeface="Consolas"/>
              </a:rPr>
              <a:t>CA Foundation · ICAI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514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96"/>
                </a:solidFill>
                <a:latin typeface="Calibri"/>
              </a:rPr>
              <a:t>✓ Own practice possible · Always in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514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  <a:latin typeface="Calibri"/>
              </a:rPr>
              <a:t>⚑ Very tough exams · Long articleship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456432"/>
            <a:ext cx="5577840" cy="14173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8600" y="3456432"/>
            <a:ext cx="54864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352958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547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MBA — Finance / 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5478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₹8–50 LPA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822192"/>
            <a:ext cx="4754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4A5878"/>
                </a:solidFill>
                <a:latin typeface="Consolas"/>
              </a:rPr>
              <a:t>CAT / XAT · IIM / XLRI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0507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96"/>
                </a:solidFill>
                <a:latin typeface="Calibri"/>
              </a:rPr>
              <a:t>✓ Lifetime network · High 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0507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  <a:latin typeface="Calibri"/>
              </a:rPr>
              <a:t>⚑ ₹25L fees · Very competitive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992624"/>
            <a:ext cx="5577840" cy="14173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28600" y="4992624"/>
            <a:ext cx="54864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506577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⚖️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0840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Law — BA LLB / B.Com LLB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0840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₹5–30 LPA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358384"/>
            <a:ext cx="4754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4A5878"/>
                </a:solidFill>
                <a:latin typeface="Consolas"/>
              </a:rPr>
              <a:t>CLAT · NLU Colleges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5586984"/>
            <a:ext cx="2377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 dirty="0">
                <a:solidFill>
                  <a:srgbClr val="00C896"/>
                </a:solidFill>
                <a:latin typeface="Calibri"/>
              </a:rPr>
              <a:t>✓ Diverse practice · High respect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5869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  <a:latin typeface="Calibri"/>
              </a:rPr>
              <a:t>⚑ First years low pay · Heavy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15727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A78BFA"/>
                </a:solidFill>
                <a:latin typeface="Calibri"/>
              </a:rPr>
              <a:t>Arts &amp; Humanities Stream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1920240"/>
            <a:ext cx="5897880" cy="14173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35040" y="1920240"/>
            <a:ext cx="54864" cy="1417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6208" y="19933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🏛️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Civil Services — IAS/IPS/IFS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20116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₹10–18 LPA+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286000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4A5878"/>
                </a:solidFill>
                <a:latin typeface="Consolas"/>
              </a:rPr>
              <a:t>UPSC CSE · 2–4 yr prep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96"/>
                </a:solidFill>
                <a:latin typeface="Calibri"/>
              </a:rPr>
              <a:t>✓ Unmatched authority · Lifelong respect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514600"/>
            <a:ext cx="25603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FBBF24"/>
                </a:solidFill>
                <a:latin typeface="Calibri"/>
              </a:rPr>
              <a:t>⚑ &lt;0.2% selection · 5yr prep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456432"/>
            <a:ext cx="5897880" cy="14173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035040" y="3456432"/>
            <a:ext cx="54864" cy="1417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6208" y="352958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3547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Design — UX / Graphic / Fashion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35478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₹4–25 LPA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3822192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4A5878"/>
                </a:solidFill>
                <a:latin typeface="Consolas"/>
              </a:rPr>
              <a:t>NID / NIFT · </a:t>
            </a:r>
            <a:r>
              <a:rPr sz="1200" b="0" i="0" dirty="0" err="1">
                <a:solidFill>
                  <a:srgbClr val="4A5878"/>
                </a:solidFill>
                <a:latin typeface="Consolas"/>
              </a:rPr>
              <a:t>BDes</a:t>
            </a:r>
            <a:endParaRPr sz="1200" b="0" i="0" dirty="0">
              <a:solidFill>
                <a:srgbClr val="4A5878"/>
              </a:solidFill>
              <a:latin typeface="Consola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29400" y="40507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96"/>
                </a:solidFill>
                <a:latin typeface="Calibri"/>
              </a:rPr>
              <a:t>✓ Creative work · Global portfolio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40507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  <a:latin typeface="Calibri"/>
              </a:rPr>
              <a:t>⚑ Freelance income irregular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4992624"/>
            <a:ext cx="5897880" cy="14173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35040" y="4992624"/>
            <a:ext cx="54864" cy="1417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208" y="506577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50840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Mass Comm &amp; Journalism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50840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₹3–15 LPA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358384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4A5878"/>
                </a:solidFill>
                <a:latin typeface="Consolas"/>
              </a:rPr>
              <a:t>BA Journalism · IIMC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55869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00C896"/>
                </a:solidFill>
                <a:latin typeface="Calibri"/>
              </a:rPr>
              <a:t>✓ Social impact · Multiple revenues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55869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  <a:latin typeface="Calibri"/>
              </a:rPr>
              <a:t>⚑ Entry salaries very 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1463040" cy="237744"/>
          </a:xfrm>
          <a:prstGeom prst="rect">
            <a:avLst/>
          </a:prstGeom>
          <a:solidFill>
            <a:srgbClr val="0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SLIDE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  <a:latin typeface="Calibri"/>
              </a:rPr>
              <a:t>Emerging Tech &amp; Professional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338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  <a:latin typeface="Calibri"/>
              </a:rPr>
              <a:t>AI · Cyber · Game Dev · Paramedical · Digital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2768"/>
            <a:ext cx="3794760" cy="21031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572768"/>
            <a:ext cx="64008" cy="21031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664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4FF"/>
                </a:solidFill>
                <a:latin typeface="Calibri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007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AI &amp;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7510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₹8–60 LPA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26771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Python · Kaggle · Deep Learning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" y="2560320"/>
            <a:ext cx="3383280" cy="64008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3192" y="2560320"/>
            <a:ext cx="3349447" cy="640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" y="265176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Scope 99%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28529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Fastest growing globally. High demand in every industry.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33101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BBF24"/>
                </a:solidFill>
                <a:latin typeface="Calibri"/>
              </a:rPr>
              <a:t>⚑ Strong maths needed · Hype vs reality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572768"/>
            <a:ext cx="3794760" cy="21031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06240" y="1572768"/>
            <a:ext cx="64008" cy="210312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1" y="1664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4FF"/>
                </a:solidFill>
                <a:latin typeface="Calibri"/>
              </a:rP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7007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Cybersecurity &amp; Ethical Hacking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197510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7185"/>
                </a:solidFill>
                <a:latin typeface="Calibri"/>
              </a:rPr>
              <a:t>₹6–35 LPA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226771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CEH · OSCP · Bug Bounty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1" y="2560320"/>
            <a:ext cx="3383280" cy="64008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70831" y="2560320"/>
            <a:ext cx="3180283" cy="64008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70831" y="265176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Scope 94%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1" y="28529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Every company needs security. Bug bounties pay ₹10L+.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1" y="33101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BBF24"/>
                </a:solidFill>
                <a:latin typeface="Calibri"/>
              </a:rPr>
              <a:t>⚑ Constant learning · Legal boundaries strict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1572768"/>
            <a:ext cx="3794760" cy="21031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83879" y="1572768"/>
            <a:ext cx="64008" cy="2103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48471" y="1664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4FF"/>
                </a:solidFill>
                <a:latin typeface="Calibri"/>
              </a:rPr>
              <a:t>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17007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Game Dev &amp; AR/VR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59" y="197510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₹4–30 LPA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1" y="226771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Unity · Unreal · XR Design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48471" y="2560320"/>
            <a:ext cx="3383280" cy="64008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48471" y="2560320"/>
            <a:ext cx="2977286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48471" y="265176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Scope 88%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1" y="28529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India gaming grows 30%/yr. Creative + technical blend.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1" y="33101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BBF24"/>
                </a:solidFill>
                <a:latin typeface="Calibri"/>
              </a:rPr>
              <a:t>⚑ Crunch culture extreme · Indie success rare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3904487"/>
            <a:ext cx="3794760" cy="21031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28600" y="3904487"/>
            <a:ext cx="64008" cy="2103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3192" y="399592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4FF"/>
                </a:solidFill>
                <a:latin typeface="Calibri"/>
              </a:rPr>
              <a:t>⚕️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03250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Paramedical — Nursing/Physio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30682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₹3–15 LPA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" y="4599431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B.Sc Nursing · BPT · DMLT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3192" y="4892040"/>
            <a:ext cx="3383280" cy="64008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93192" y="4892040"/>
            <a:ext cx="3011119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93192" y="4983479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Scope 89%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" y="51846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Huge demand post-COVID. Can work globally.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" y="56418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BBF24"/>
                </a:solidFill>
                <a:latin typeface="Calibri"/>
              </a:rPr>
              <a:t>⚑ Night shifts · Lower pay vs doctors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3904487"/>
            <a:ext cx="3794760" cy="21031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206240" y="3904487"/>
            <a:ext cx="64008" cy="2103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70831" y="399592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4FF"/>
                </a:solidFill>
                <a:latin typeface="Calibri"/>
              </a:rPr>
              <a:t>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6320" y="403250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Digital Marketing &amp; SEO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6320" y="430682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₹3–18 LPA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70831" y="4599431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Google/Meta Certs · Any Degree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70831" y="4892040"/>
            <a:ext cx="3383280" cy="64008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370831" y="4892040"/>
            <a:ext cx="3078784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370831" y="4983479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Scope 91%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70831" y="51846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Any stream can enter. Quick skill acquisition.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0831" y="56418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BBF24"/>
                </a:solidFill>
                <a:latin typeface="Calibri"/>
              </a:rPr>
              <a:t>⚑ Algorithms change · Client pressure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83879" y="3904487"/>
            <a:ext cx="3794760" cy="21031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183879" y="3904487"/>
            <a:ext cx="64008" cy="210312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48471" y="399592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4FF"/>
                </a:solidFill>
                <a:latin typeface="Calibri"/>
              </a:rPr>
              <a:t>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23959" y="403250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Film, Animation &amp; VFX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23959" y="430682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7185"/>
                </a:solidFill>
                <a:latin typeface="Calibri"/>
              </a:rPr>
              <a:t>₹4–25 LPA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48471" y="4599431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FTII · MAAC · Adobe/Blender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48471" y="4892040"/>
            <a:ext cx="3383280" cy="64008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348471" y="4892040"/>
            <a:ext cx="2943453" cy="64008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48471" y="4983479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Scope 87%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48471" y="51846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OTT boom driving demand for visual content creators.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48471" y="56418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BBF24"/>
                </a:solidFill>
                <a:latin typeface="Calibri"/>
              </a:rPr>
              <a:t>⚑ Irregular income · Portfolio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1463040" cy="237744"/>
          </a:xfrm>
          <a:prstGeom prst="rect">
            <a:avLst/>
          </a:prstGeom>
          <a:solidFill>
            <a:srgbClr val="0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SLIDE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0F4FF"/>
                </a:solidFill>
                <a:latin typeface="Calibri"/>
              </a:rPr>
              <a:t>ITI &amp; Polytechnic Diploma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338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  <a:latin typeface="Calibri"/>
              </a:rPr>
              <a:t>Skilled trade careers — often overlooked, always in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00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5E9"/>
                </a:solidFill>
                <a:latin typeface="Calibri"/>
              </a:rPr>
              <a:t>ITI — Industrial Training Institute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965960"/>
            <a:ext cx="557784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0391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Electrician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057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₹2–8 LPA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1343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4A5878"/>
                </a:solidFill>
                <a:latin typeface="Consolas"/>
              </a:rPr>
              <a:t>2yr · NCVT · BHEL/HAL Jobs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2103120"/>
            <a:ext cx="685800" cy="54864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83480" y="2103120"/>
            <a:ext cx="630936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8600" y="2743200"/>
            <a:ext cx="557784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8163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16352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Fitter Trade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834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₹2–7 LPA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9067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4A5878"/>
                </a:solidFill>
                <a:latin typeface="Consolas"/>
              </a:rPr>
              <a:t>2yr · NCVT · PSU Factories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2880360"/>
            <a:ext cx="685800" cy="54864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83480" y="2880360"/>
            <a:ext cx="603504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8600" y="3520439"/>
            <a:ext cx="557784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5935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93591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Motor Mechanic (MMV)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61187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₹2–9 LPA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867911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2yr · TATA/Maruti Tie-ups · Own Garage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80" y="3657599"/>
            <a:ext cx="685800" cy="54864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83480" y="3657599"/>
            <a:ext cx="61722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28600" y="4297679"/>
            <a:ext cx="557784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437083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70831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Welder Trade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38911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₹2–10 LPA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645151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1yr · Middle East Jobs · Shipbuilding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434840"/>
            <a:ext cx="685800" cy="54864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983480" y="4434840"/>
            <a:ext cx="596646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28600" y="5074920"/>
            <a:ext cx="557784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5148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❄️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148072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AC &amp; Refrigeration (RAC)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16635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₹2–10 LPA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42239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2yr · Own AC Business · Summer Demand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5212080"/>
            <a:ext cx="685800" cy="54864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83480" y="5212080"/>
            <a:ext cx="624078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28600" y="5852160"/>
            <a:ext cx="557784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5925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🖨️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925312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COPA — Computer Operator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943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₹1.5–6 LPA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19963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1yr · Govt Data Entry · Office Jobs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83480" y="5989320"/>
            <a:ext cx="685800" cy="54864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983480" y="5989320"/>
            <a:ext cx="521207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35040" y="16002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Polytechnic — 3-Year Diploma (POLYCET)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1976234"/>
            <a:ext cx="589788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72200" y="20391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🏗️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2039112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Diploma in Civil Engineering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800" y="2057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₹2.5–10 LPA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231343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4A5878"/>
                </a:solidFill>
                <a:latin typeface="Consolas"/>
              </a:rPr>
              <a:t>3yr · POLYCET · PWD / Construction · ECET Lateral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018520" y="2103120"/>
            <a:ext cx="685800" cy="54864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1018520" y="2103120"/>
            <a:ext cx="58293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035040" y="2743200"/>
            <a:ext cx="589788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172200" y="28163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⚙️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2816352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Diploma in Mechanical Engg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29800" y="2834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₹2.5–10 LPA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309067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4A5878"/>
                </a:solidFill>
                <a:latin typeface="Consolas"/>
              </a:rPr>
              <a:t>3yr · DOTE · Factory / PSU · </a:t>
            </a:r>
            <a:r>
              <a:rPr sz="800" b="0" i="0" dirty="0" err="1">
                <a:solidFill>
                  <a:srgbClr val="4A5878"/>
                </a:solidFill>
                <a:latin typeface="Consolas"/>
              </a:rPr>
              <a:t>B.Tech</a:t>
            </a:r>
            <a:r>
              <a:rPr sz="800" b="0" i="0" dirty="0">
                <a:solidFill>
                  <a:srgbClr val="4A5878"/>
                </a:solidFill>
                <a:latin typeface="Consolas"/>
              </a:rPr>
              <a:t> Lateral Entry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018520" y="2880360"/>
            <a:ext cx="685800" cy="54864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1018520" y="2880360"/>
            <a:ext cx="569214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035040" y="3520439"/>
            <a:ext cx="589788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5" name="TextBox 64"/>
          <p:cNvSpPr txBox="1"/>
          <p:nvPr/>
        </p:nvSpPr>
        <p:spPr>
          <a:xfrm>
            <a:off x="6172200" y="35935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0" y="3593591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Diploma in Electrical Engg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29800" y="361187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₹2.5–10 LPA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0" y="3867911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3yr · DOTE · DISCOM / Power Plants · Solar EV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018520" y="3657599"/>
            <a:ext cx="685800" cy="54864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1018520" y="3657599"/>
            <a:ext cx="603504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035040" y="4297679"/>
            <a:ext cx="589788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172200" y="437083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💻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0" y="4370831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Diploma in CS &amp; IT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29800" y="438911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₹2–8 LPA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0" y="4645151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3yr · DOTE · IT Entry / Lateral B.Tech CSE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018520" y="4434840"/>
            <a:ext cx="685800" cy="54864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1018520" y="4434840"/>
            <a:ext cx="562356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035040" y="5074920"/>
            <a:ext cx="589788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172200" y="5148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🧪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0" y="5148072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Diploma in Chemical Technology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29800" y="516635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₹2–8 LPA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83680" y="542239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3yr · Pharma / Fertiliser Plants · Lab Roles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018520" y="5212080"/>
            <a:ext cx="685800" cy="54864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1018520" y="5212080"/>
            <a:ext cx="528066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035040" y="5852160"/>
            <a:ext cx="589788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172200" y="5925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F"/>
                </a:solidFill>
                <a:latin typeface="Calibri"/>
              </a:rPr>
              <a:t>📡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83680" y="5925312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Diploma in Electronics &amp; Comm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29800" y="5943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₹2–9 LPA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83680" y="619963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3yr · DOTE · Telecom / IoT / BSNL · DRDO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018520" y="5989320"/>
            <a:ext cx="685800" cy="54864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1018520" y="5989320"/>
            <a:ext cx="57607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28600" y="6473952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onsolas"/>
              </a:rPr>
              <a:t>Key advantage: Polytechnic → ECET lateral entry → B.Tech Year 2  (no need to start from scratch)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1463040" cy="237744"/>
          </a:xfrm>
          <a:prstGeom prst="rect">
            <a:avLst/>
          </a:prstGeom>
          <a:solidFill>
            <a:srgbClr val="0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SLIDE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  <a:latin typeface="Calibri"/>
              </a:rPr>
              <a:t>Vocational / Short-term Career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4413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  <a:latin typeface="Calibri"/>
              </a:rPr>
              <a:t>Skills that pay — available to any stream, any 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2768"/>
            <a:ext cx="3794760" cy="21031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>
                <a:alpha val="9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572768"/>
            <a:ext cx="64008" cy="21031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664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F"/>
                </a:solidFill>
                <a:latin typeface="Calibri"/>
              </a:rPr>
              <a:t>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Beauty &amp; Cosmetology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933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₹2–12 LPA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32257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6–12 months · VLCC / Lakme Academy · PMKVY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57860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8"/>
                </a:solidFill>
                <a:latin typeface="Calibri"/>
              </a:rPr>
              <a:t>India beauty industry ₹1 lakh crore. Own salon within 1 year.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572768"/>
            <a:ext cx="3794760" cy="21031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06240" y="1572768"/>
            <a:ext cx="64008" cy="2103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1" y="1664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F"/>
                </a:solidFill>
                <a:latin typeface="Calibri"/>
              </a:rPr>
              <a:t>👨‍🍳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7190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Hotel Mgmt &amp; Culinary 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9933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₹2–15 LPA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1" y="232257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3yr Diploma · IHM · Culinary certs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257860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8"/>
                </a:solidFill>
                <a:latin typeface="Calibri"/>
              </a:rPr>
              <a:t>Hospitality booming post-COVID. Global job market open.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1583042"/>
            <a:ext cx="3794760" cy="21031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83879" y="1572768"/>
            <a:ext cx="64008" cy="2103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8471" y="1664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F"/>
                </a:solidFill>
                <a:latin typeface="Calibri"/>
              </a:rPr>
              <a:t>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59" y="17190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EV &amp; Automobile Technician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59" y="19933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₹2–10 LPA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232257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6–12 months · NSDC / TATA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1" y="257860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8"/>
                </a:solidFill>
                <a:latin typeface="Calibri"/>
              </a:rPr>
              <a:t>EV revolution needs skilled technicians urgently.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858768"/>
            <a:ext cx="3794760" cy="21031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28600" y="3858768"/>
            <a:ext cx="64008" cy="2103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3192" y="395020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F"/>
                </a:solidFill>
                <a:latin typeface="Calibri"/>
              </a:rPr>
              <a:t>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0050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Photography &amp; Videography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2793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₹2–20 LPA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" y="460857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3–6 months · Freelance · YouTube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" y="486460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8"/>
                </a:solidFill>
                <a:latin typeface="Calibri"/>
              </a:rPr>
              <a:t>Weddings, events, brands — income potential is high.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3858768"/>
            <a:ext cx="3794760" cy="21031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06240" y="3858768"/>
            <a:ext cx="64008" cy="210312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70831" y="395020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F"/>
                </a:solidFill>
                <a:latin typeface="Calibri"/>
              </a:rPr>
              <a:t>🖥️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40050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Computer &amp; Hardware Repair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42793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7185"/>
                </a:solidFill>
                <a:latin typeface="Calibri"/>
              </a:rPr>
              <a:t>₹2–8 LPA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1" y="460857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6 months · NIELIT · Own Repair Shop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1" y="486460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8"/>
                </a:solidFill>
                <a:latin typeface="Calibri"/>
              </a:rPr>
              <a:t>Phone &amp; laptop repair = ₹10,000 crore industry.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79" y="3858768"/>
            <a:ext cx="3794760" cy="21031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83879" y="3858768"/>
            <a:ext cx="64008" cy="21031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48471" y="395020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F"/>
                </a:solidFill>
                <a:latin typeface="Calibri"/>
              </a:rPr>
              <a:t>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59" y="40050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Interior Design &amp; Home Décor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59" y="42793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₹3–20 LPA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1" y="460857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878"/>
                </a:solidFill>
                <a:latin typeface="Consolas"/>
              </a:rPr>
              <a:t>1yr Diploma · AutoCAD · Freelance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1" y="486460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8"/>
                </a:solidFill>
                <a:latin typeface="Calibri"/>
              </a:rPr>
              <a:t>Real estate boom = interior design boom. Creative career.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" y="598932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onsolas"/>
              </a:rPr>
              <a:t>All vocational courses eligible for PMKVY (free training + cash incentive on completion)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1463040" cy="237744"/>
          </a:xfrm>
          <a:prstGeom prst="rect">
            <a:avLst/>
          </a:prstGeom>
          <a:solidFill>
            <a:srgbClr val="0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SLIDE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  <a:latin typeface="Calibri"/>
              </a:rPr>
              <a:t>Year-by-Year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338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  <a:latin typeface="Calibri"/>
              </a:rPr>
              <a:t>Science stream — from Class 11 to career success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2768"/>
            <a:ext cx="5532120" cy="146304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93192" y="1737360"/>
            <a:ext cx="292608" cy="292608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7373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0078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96"/>
                </a:solidFill>
                <a:latin typeface="Consolas"/>
              </a:rPr>
              <a:t>Class 11 —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Foundation &amp;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26771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Focus on NCERT. Start JEE/NEET coaching. Identify PCM vs PCB. Follow Physics Wallah, Unacademy.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172968"/>
            <a:ext cx="5532120" cy="146304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93192" y="3337560"/>
            <a:ext cx="292608" cy="292608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" y="33375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0098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96"/>
                </a:solidFill>
                <a:latin typeface="Consolas"/>
              </a:rPr>
              <a:t>Class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20439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Boards + Entrance Exams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" y="3867911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Score 75%+ in boards. Attempt JEE Main &amp; NEET. Apply for BITSAT, TS/AP EAMCET simultaneously.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773168"/>
            <a:ext cx="5532120" cy="146304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93192" y="4937759"/>
            <a:ext cx="292608" cy="292608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3192" y="4937759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A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01183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96"/>
                </a:solidFill>
                <a:latin typeface="Consolas"/>
              </a:rPr>
              <a:t>Year 1 College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Adapt &amp; Explore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" y="546811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Don't miss Year 1 fundamentals. Join IEEE/coding clubs. Start learning Python or lab basics.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1572768"/>
            <a:ext cx="5532120" cy="146304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062472" y="1737360"/>
            <a:ext cx="292608" cy="292608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62472" y="17373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A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70078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96"/>
                </a:solidFill>
                <a:latin typeface="Consolas"/>
              </a:rPr>
              <a:t>Year 2–3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9202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Specialise &amp; Intern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62472" y="226771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Land first internship. Build domain projects. Explore GATE coaching. Research internships at IITs/IISc.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97880" y="3172968"/>
            <a:ext cx="5532120" cy="146304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062472" y="3337560"/>
            <a:ext cx="292608" cy="292608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62472" y="33375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A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30098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96"/>
                </a:solidFill>
                <a:latin typeface="Consolas"/>
              </a:rPr>
              <a:t>Year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520439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Placement or Higher Studies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62472" y="3867911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Prepare DSA for placements. Apply for M.Tech (GATE), MS abroad (GRE), or MBA (CAT). Network on LinkedIn.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4773168"/>
            <a:ext cx="5532120" cy="1463040"/>
          </a:xfrm>
          <a:prstGeom prst="rect">
            <a:avLst/>
          </a:prstGeom>
          <a:solidFill>
            <a:srgbClr val="111827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062472" y="4937759"/>
            <a:ext cx="292608" cy="292608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62472" y="4937759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A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901183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96"/>
                </a:solidFill>
                <a:latin typeface="Consolas"/>
              </a:rPr>
              <a:t>Post Graduation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1206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Career Growth &amp; Mastery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62472" y="546811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Join a team, deliver real impact. Get certifications. Consider MBA at 3–5 yrs. Build personal brand.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" y="649224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878"/>
                </a:solidFill>
                <a:latin typeface="Consolas"/>
              </a:rPr>
              <a:t>Roadmaps available for all 8 streams in the interactive HTML portal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1463040" cy="237744"/>
          </a:xfrm>
          <a:prstGeom prst="rect">
            <a:avLst/>
          </a:prstGeom>
          <a:solidFill>
            <a:srgbClr val="0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  <a:latin typeface="Calibri"/>
              </a:rPr>
              <a:t>Scholarships &amp; Financial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338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  <a:latin typeface="Calibri"/>
              </a:rPr>
              <a:t>Government &amp; private scholarships for every stream and 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2768"/>
            <a:ext cx="2788920" cy="11704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84048" y="1728216"/>
            <a:ext cx="91440" cy="9144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784" y="166420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PM Yasasvi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93852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₹75K–1.25L/yr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23113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OBC/EBC/DNT · Income &lt;₹2.5L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572768"/>
            <a:ext cx="2788920" cy="11704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310128" y="1728216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83864" y="166420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INSPIRE — DST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193852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₹80,000/yr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23113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Top 1% boards · Pure Sciences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572768"/>
            <a:ext cx="2788920" cy="11704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236208" y="1728216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166420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NMMS Scholarship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193852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₹12,000/yr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23113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Class 8 exam · Income &lt;₹3.5L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572768"/>
            <a:ext cx="2788920" cy="11704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62288" y="1728216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36024" y="166420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AICTE Pragati (Girls)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193852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₹50,000/yr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223113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Female · AICTE Tech college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871215"/>
            <a:ext cx="2788920" cy="11704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84048" y="3026663"/>
            <a:ext cx="91440" cy="914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7784" y="296265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KVPY Fellowship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" y="3236975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7185"/>
                </a:solidFill>
                <a:latin typeface="Calibri"/>
              </a:rPr>
              <a:t>₹5–7K/month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3529583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8B9AB8"/>
                </a:solidFill>
                <a:latin typeface="Calibri"/>
              </a:rPr>
              <a:t>Class 11–12 Science · IISc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2871215"/>
            <a:ext cx="2788920" cy="11704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310128" y="3026663"/>
            <a:ext cx="91440" cy="9144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83864" y="296265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TS ePass — Telangana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83864" y="3236975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Full fee refund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0128" y="3529583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SC/ST/BC/EBC · TS domicile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2871215"/>
            <a:ext cx="2788920" cy="11704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236208" y="3026663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9944" y="296265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PMKVY Skill India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9944" y="3236975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Free + incentive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3529583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Any stream · NSDC center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6840" y="2871215"/>
            <a:ext cx="2788920" cy="11704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162288" y="3026663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36024" y="296265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HDFC Parivartan ECSS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36024" y="3236975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Up to ₹75,000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62288" y="3529583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Merit + financial hardship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169663"/>
            <a:ext cx="2788920" cy="11704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84048" y="4325112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57784" y="4261103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National Apprenticeship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" y="4535424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₹1,500/month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" y="4828031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ITI/Diploma · Factories Act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54680" y="4169663"/>
            <a:ext cx="2788920" cy="11704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3310128" y="4325112"/>
            <a:ext cx="91440" cy="914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83864" y="4261103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Google Generation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83864" y="4535424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7185"/>
                </a:solidFill>
                <a:latin typeface="Calibri"/>
              </a:rPr>
              <a:t>₹75,000 once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0128" y="4828031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Female · CSE or Tech field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80760" y="4169663"/>
            <a:ext cx="2788920" cy="11704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236208" y="4325112"/>
            <a:ext cx="91440" cy="9144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9944" y="4261103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Tata Trusts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9944" y="4535424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Varies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36208" y="4828031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Tribal/rural background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06840" y="4169663"/>
            <a:ext cx="2788920" cy="11704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162288" y="4325112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336024" y="4261103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Sitaram Jindal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36024" y="4535424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₹1.5–3K/month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62288" y="4828031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AB8"/>
                </a:solidFill>
                <a:latin typeface="Calibri"/>
              </a:rPr>
              <a:t>Merit + income criteria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" y="5870447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0C896"/>
                </a:solidFill>
                <a:latin typeface="Consolas"/>
              </a:rPr>
              <a:t>Apply early — most scholarships have October–December deadlines each academic year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1463040" cy="237744"/>
          </a:xfrm>
          <a:prstGeom prst="rect">
            <a:avLst/>
          </a:prstGeom>
          <a:solidFill>
            <a:srgbClr val="0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  <a:latin typeface="Calibri"/>
              </a:rPr>
              <a:t>Mentor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338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8B9AB8"/>
                </a:solidFill>
                <a:latin typeface="Calibri"/>
              </a:rPr>
              <a:t>Real journeys — from intermediate students to successful professionals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2768"/>
            <a:ext cx="2788920" cy="2240280"/>
          </a:xfrm>
          <a:prstGeom prst="rect">
            <a:avLst/>
          </a:prstGeom>
          <a:solidFill>
            <a:srgbClr val="002060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93192" y="1719072"/>
            <a:ext cx="457200" cy="45720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7373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  <a:latin typeface="Calibri"/>
              </a:rPr>
              <a:t>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73736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  <a:latin typeface="Calibri"/>
              </a:rPr>
              <a:t>Arjun Reddy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7510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AB8"/>
                </a:solidFill>
                <a:latin typeface="Calibri"/>
              </a:rPr>
              <a:t>Senior SWE · IIT Bombay 2020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2377440"/>
            <a:ext cx="2450592" cy="128016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3192" y="2377440"/>
            <a:ext cx="36576" cy="128016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432304"/>
            <a:ext cx="2331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B9AB8"/>
                </a:solidFill>
                <a:latin typeface="Calibri"/>
              </a:rPr>
              <a:t>"I cracked JEE on my second attempt. The gap year felt like failure — it taught me resilience that still drives my work."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1572768"/>
            <a:ext cx="2788920" cy="224028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319272" y="1719072"/>
            <a:ext cx="457200" cy="45720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9272" y="17373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  <a:latin typeface="Calibri"/>
              </a:rPr>
              <a:t>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912" y="173736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  <a:latin typeface="Calibri"/>
              </a:rPr>
              <a:t>Priya Srinivasan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7912" y="197510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AB8"/>
                </a:solidFill>
                <a:latin typeface="Calibri"/>
              </a:rPr>
              <a:t>CA · Deloitte · ICAI 2021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9272" y="2377440"/>
            <a:ext cx="2450592" cy="128016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19272" y="2377440"/>
            <a:ext cx="36576" cy="12801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2432304"/>
            <a:ext cx="2331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B9AB8"/>
                </a:solidFill>
                <a:latin typeface="Calibri"/>
              </a:rPr>
              <a:t>"Failed CA Intermediate twice. Most CAs do. What matters is coming back smarter and more focused each time."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572768"/>
            <a:ext cx="2788920" cy="22402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Oval 22"/>
          <p:cNvSpPr/>
          <p:nvPr/>
        </p:nvSpPr>
        <p:spPr>
          <a:xfrm>
            <a:off x="6245352" y="1719072"/>
            <a:ext cx="457200" cy="457200"/>
          </a:xfrm>
          <a:prstGeom prst="ellipse">
            <a:avLst/>
          </a:prstGeom>
          <a:solidFill>
            <a:srgbClr val="993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5352" y="17373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  <a:latin typeface="Calibri"/>
              </a:rPr>
              <a:t>MK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173736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  <a:latin typeface="Calibri"/>
              </a:rPr>
              <a:t>Mohammed Khaleel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197510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AB8"/>
                </a:solidFill>
                <a:latin typeface="Calibri"/>
              </a:rPr>
              <a:t>IAS Officer 2019 · Osmania Univ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2377440"/>
            <a:ext cx="2450592" cy="128016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45352" y="2377440"/>
            <a:ext cx="36576" cy="1280160"/>
          </a:xfrm>
          <a:prstGeom prst="rect">
            <a:avLst/>
          </a:prstGeom>
          <a:solidFill>
            <a:srgbClr val="993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2432304"/>
            <a:ext cx="2331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B9AB8"/>
                </a:solidFill>
                <a:latin typeface="Calibri"/>
              </a:rPr>
              <a:t>"I studied in Telugu medium till degree. UPSC is about clarity of thought, not English or college name."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6840" y="1572768"/>
            <a:ext cx="2788920" cy="224028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171432" y="1719072"/>
            <a:ext cx="457200" cy="457200"/>
          </a:xfrm>
          <a:prstGeom prst="ellipse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71432" y="17373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  <a:latin typeface="Calibri"/>
              </a:rPr>
              <a:t>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173736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  <a:latin typeface="Calibri"/>
              </a:rPr>
              <a:t>Ramesh Kumar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072" y="197510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AB8"/>
                </a:solidFill>
                <a:latin typeface="Calibri"/>
              </a:rPr>
              <a:t>BHEL Engineer · 12yr experience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71432" y="2377440"/>
            <a:ext cx="2450592" cy="128016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71432" y="2377440"/>
            <a:ext cx="36576" cy="128016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81160" y="2432304"/>
            <a:ext cx="2331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B9AB8"/>
                </a:solidFill>
                <a:latin typeface="Calibri"/>
              </a:rPr>
              <a:t>"I did ITI when everyone called it inferior. Today I supervise a 40-person BHEL team earning more than many B.Tech grads."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968496"/>
            <a:ext cx="2788920" cy="22402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93192" y="4114800"/>
            <a:ext cx="457200" cy="45720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3192" y="4133087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  <a:latin typeface="Calibri"/>
              </a:rPr>
              <a:t>LN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" y="4133087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  <a:latin typeface="Calibri"/>
              </a:rPr>
              <a:t>Lakshmi Narayana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" y="437083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AB8"/>
                </a:solidFill>
                <a:latin typeface="Calibri"/>
              </a:rPr>
              <a:t>Site Manager · POLYCET → B.Tech Lateral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" y="4773168"/>
            <a:ext cx="2450592" cy="128016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93192" y="4773168"/>
            <a:ext cx="36576" cy="1280160"/>
          </a:xfrm>
          <a:prstGeom prst="rect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4828031"/>
            <a:ext cx="2331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B9AB8"/>
                </a:solidFill>
                <a:latin typeface="Calibri"/>
              </a:rPr>
              <a:t>"POLYCET was my only option. Lateral entry B.Tech, 8 years in construction. Now I manage ₹50 crore projects."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3968496"/>
            <a:ext cx="2788920" cy="2240280"/>
          </a:xfrm>
          <a:prstGeom prst="rect">
            <a:avLst/>
          </a:prstGeom>
          <a:solidFill>
            <a:schemeClr val="bg2">
              <a:lumMod val="25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319272" y="4114800"/>
            <a:ext cx="457200" cy="45720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319272" y="4133087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  <a:latin typeface="Calibri"/>
              </a:rPr>
              <a:t>VT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67912" y="4133087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  <a:latin typeface="Calibri"/>
              </a:rPr>
              <a:t>Vandana Tyagi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67912" y="437083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AB8"/>
                </a:solidFill>
                <a:latin typeface="Calibri"/>
              </a:rPr>
              <a:t>Salon Chain Owner · VLCC Certified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19272" y="4773168"/>
            <a:ext cx="2450592" cy="128016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319272" y="4773168"/>
            <a:ext cx="36576" cy="12801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29000" y="4828031"/>
            <a:ext cx="2331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B9AB8"/>
                </a:solidFill>
                <a:latin typeface="Calibri"/>
              </a:rPr>
              <a:t>"My parents thought cosmetology was a backup. My salon chain now earns more than my engineer brother. Skills over degrees."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3968496"/>
            <a:ext cx="2788920" cy="224028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245352" y="411480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45352" y="4133087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  <a:latin typeface="Calibri"/>
              </a:rPr>
              <a:t>SK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93992" y="4133087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  <a:latin typeface="Calibri"/>
              </a:rPr>
              <a:t>Sneha Kulkarni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93992" y="437083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AB8"/>
                </a:solidFill>
                <a:latin typeface="Calibri"/>
              </a:rPr>
              <a:t>Medical Intern · NEET AIR 4500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45352" y="4773168"/>
            <a:ext cx="2450592" cy="128016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245352" y="4773168"/>
            <a:ext cx="36576" cy="1280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55080" y="4828031"/>
            <a:ext cx="2331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B9AB8"/>
                </a:solidFill>
                <a:latin typeface="Calibri"/>
              </a:rPr>
              <a:t>"NEET is a marathon. I revised NCERT 7 times. Biology is full marks on a plate if you are truly consistent."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06840" y="3968496"/>
            <a:ext cx="2788920" cy="224028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171432" y="4114800"/>
            <a:ext cx="457200" cy="457200"/>
          </a:xfrm>
          <a:prstGeom prst="ellipse">
            <a:avLst/>
          </a:prstGeom>
          <a:solidFill>
            <a:srgbClr val="993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171432" y="4133087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  <a:latin typeface="Calibri"/>
              </a:rPr>
              <a:t>AM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20072" y="4133087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  <a:latin typeface="Calibri"/>
              </a:rPr>
              <a:t>Aryan Mehta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20072" y="437083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AB8"/>
                </a:solidFill>
                <a:latin typeface="Calibri"/>
              </a:rPr>
              <a:t>Cybersecurity Analyst · Self-taught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71432" y="4773168"/>
            <a:ext cx="2450592" cy="128016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171432" y="4773168"/>
            <a:ext cx="36576" cy="1280160"/>
          </a:xfrm>
          <a:prstGeom prst="rect">
            <a:avLst/>
          </a:prstGeom>
          <a:solidFill>
            <a:srgbClr val="993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281160" y="4828031"/>
            <a:ext cx="2331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8B9AB8"/>
                </a:solidFill>
                <a:latin typeface="Calibri"/>
              </a:rPr>
              <a:t>"I was a commerce student who taught himself ethical hacking. Your stream does not define your career — curiosity does."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1463040" cy="237744"/>
          </a:xfrm>
          <a:prstGeom prst="rect">
            <a:avLst/>
          </a:prstGeom>
          <a:solidFill>
            <a:srgbClr val="0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0F4FF"/>
                </a:solidFill>
                <a:latin typeface="Calibri"/>
              </a:rPr>
              <a:t>Aptitude &amp; Interest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338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  <a:latin typeface="Calibri"/>
              </a:rPr>
              <a:t>6 questions · 8 stream outcomes · Instant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00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4FF"/>
                </a:solidFill>
                <a:latin typeface="Calibri"/>
              </a:rPr>
              <a:t>How the quiz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2011680"/>
            <a:ext cx="2788920" cy="2286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61872" y="2052305"/>
            <a:ext cx="685800" cy="68580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52728" y="219456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0F1A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0175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  <a:latin typeface="Calibri"/>
              </a:rPr>
              <a:t>Answer 6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36499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8B9AB8"/>
                </a:solidFill>
                <a:latin typeface="Calibri"/>
              </a:rPr>
              <a:t>Each question covers interest, subject preference, timeline, work style, education goal, and career priority.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2011680"/>
            <a:ext cx="2788920" cy="2286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197096" y="2036326"/>
            <a:ext cx="685800" cy="68580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78808" y="2194560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0B0F1A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30175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  <a:latin typeface="Calibri"/>
              </a:rPr>
              <a:t>Each Answer Scores a Stream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336499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8B9AB8"/>
                </a:solidFill>
                <a:latin typeface="Calibri"/>
              </a:rPr>
              <a:t>Your choices assign points to Science, Commerce, Arts, Emerging Tech, Professional, Vocational, ITI, or Polytechnic.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011680"/>
            <a:ext cx="2788920" cy="2286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04888" y="2011680"/>
            <a:ext cx="685800" cy="68580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04888" y="219456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0F1A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30175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  <a:latin typeface="Calibri"/>
              </a:rPr>
              <a:t>Top Score Wins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336499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8B9AB8"/>
                </a:solidFill>
                <a:latin typeface="Calibri"/>
              </a:rPr>
              <a:t>The stream with the most points is your best-fit recommendation. You can retake the quiz any number of times.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2011680"/>
            <a:ext cx="2788920" cy="2286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058400" y="2028546"/>
            <a:ext cx="685800" cy="68580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30968" y="219456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0F1A"/>
                </a:solidFill>
                <a:latin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30175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  <a:latin typeface="Calibri"/>
              </a:rPr>
              <a:t>Get Your 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364992"/>
            <a:ext cx="2468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8B9AB8"/>
                </a:solidFill>
                <a:latin typeface="Calibri"/>
              </a:rPr>
              <a:t>See a </a:t>
            </a:r>
            <a:r>
              <a:rPr sz="1200" b="0" i="0" dirty="0" err="1">
                <a:solidFill>
                  <a:srgbClr val="8B9AB8"/>
                </a:solidFill>
                <a:latin typeface="Calibri"/>
              </a:rPr>
              <a:t>personalised</a:t>
            </a:r>
            <a:r>
              <a:rPr sz="1200" b="0" i="0" dirty="0">
                <a:solidFill>
                  <a:srgbClr val="8B9AB8"/>
                </a:solidFill>
                <a:latin typeface="Calibri"/>
              </a:rPr>
              <a:t> stream description explaining why it matches your answers. Use this as a starting point for research.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987" y="4415507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8B9AB8"/>
                </a:solidFill>
                <a:latin typeface="Calibri"/>
              </a:rPr>
              <a:t>Possible </a:t>
            </a:r>
            <a:r>
              <a:rPr b="1" i="0" dirty="0">
                <a:solidFill>
                  <a:srgbClr val="8B9AB8"/>
                </a:solidFill>
                <a:latin typeface="Calibri"/>
              </a:rPr>
              <a:t> </a:t>
            </a:r>
            <a:r>
              <a:rPr lang="en-US" b="1" i="0" dirty="0">
                <a:solidFill>
                  <a:srgbClr val="8B9AB8"/>
                </a:solidFill>
                <a:latin typeface="Calibri"/>
              </a:rPr>
              <a:t>outcomes </a:t>
            </a:r>
            <a:r>
              <a:rPr b="1" i="0" dirty="0">
                <a:solidFill>
                  <a:srgbClr val="8B9AB8"/>
                </a:solidFill>
                <a:latin typeface="Calibri"/>
              </a:rPr>
              <a:t>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4864608"/>
            <a:ext cx="1417320" cy="274320"/>
          </a:xfrm>
          <a:prstGeom prst="rect">
            <a:avLst/>
          </a:prstGeom>
          <a:solidFill>
            <a:srgbClr val="0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 dirty="0">
                <a:solidFill>
                  <a:srgbClr val="00C896"/>
                </a:solidFill>
                <a:latin typeface="Consolas"/>
              </a:rPr>
              <a:t>🔬 </a:t>
            </a:r>
            <a:r>
              <a:rPr sz="1400" b="1" dirty="0">
                <a:solidFill>
                  <a:srgbClr val="00C896"/>
                </a:solidFill>
                <a:latin typeface="Consolas"/>
              </a:rPr>
              <a:t>Science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4987" y="5705856"/>
            <a:ext cx="1417320" cy="27432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0EA5E9"/>
                </a:solidFill>
                <a:latin typeface="Consolas"/>
              </a:rPr>
              <a:t>📊 Commerce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91256" y="4864608"/>
            <a:ext cx="1417320" cy="274320"/>
          </a:xfrm>
          <a:prstGeom prst="rect">
            <a:avLst/>
          </a:prstGeom>
          <a:solidFill>
            <a:srgbClr val="241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A78BFA"/>
                </a:solidFill>
                <a:latin typeface="Consolas"/>
              </a:rPr>
              <a:t>🎨 Arts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5705856"/>
            <a:ext cx="1417320" cy="274320"/>
          </a:xfrm>
          <a:prstGeom prst="rect">
            <a:avLst/>
          </a:prstGeom>
          <a:solidFill>
            <a:srgbClr val="352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 dirty="0">
                <a:solidFill>
                  <a:srgbClr val="FBBF24"/>
                </a:solidFill>
                <a:latin typeface="Consolas"/>
              </a:rPr>
              <a:t>🚀 Emerging Tech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3912" y="4864608"/>
            <a:ext cx="1417320" cy="274320"/>
          </a:xfrm>
          <a:prstGeom prst="rect">
            <a:avLst/>
          </a:prstGeom>
          <a:solidFill>
            <a:srgbClr val="40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 dirty="0">
                <a:solidFill>
                  <a:srgbClr val="FB7185"/>
                </a:solidFill>
                <a:latin typeface="Consolas"/>
              </a:rPr>
              <a:t>⚕️ </a:t>
            </a:r>
            <a:r>
              <a:rPr sz="1400" b="1" dirty="0">
                <a:solidFill>
                  <a:srgbClr val="FB7185"/>
                </a:solidFill>
                <a:latin typeface="Consolas"/>
              </a:rPr>
              <a:t>Professional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53912" y="5705856"/>
            <a:ext cx="1417320" cy="274320"/>
          </a:xfrm>
          <a:prstGeom prst="rect">
            <a:avLst/>
          </a:prstGeom>
          <a:solidFill>
            <a:srgbClr val="0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 dirty="0">
                <a:solidFill>
                  <a:srgbClr val="00C896"/>
                </a:solidFill>
                <a:latin typeface="Consolas"/>
              </a:rPr>
              <a:t>🛠️ Vocational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16568" y="4864608"/>
            <a:ext cx="1417320" cy="27432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 dirty="0">
                <a:solidFill>
                  <a:srgbClr val="0EA5E9"/>
                </a:solidFill>
                <a:latin typeface="Consolas"/>
              </a:rPr>
              <a:t>🔧 ITI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16568" y="5694863"/>
            <a:ext cx="1417320" cy="2743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 dirty="0">
                <a:solidFill>
                  <a:schemeClr val="bg2"/>
                </a:solidFill>
                <a:latin typeface="Consolas"/>
              </a:rPr>
              <a:t>🏗️ Polytechnic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1463040" cy="237744"/>
          </a:xfrm>
          <a:prstGeom prst="rect">
            <a:avLst/>
          </a:prstGeom>
          <a:solidFill>
            <a:srgbClr val="0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00C896"/>
                </a:solidFill>
                <a:latin typeface="Consolas"/>
              </a:rPr>
              <a:t>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338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  <a:latin typeface="Calibri"/>
              </a:rPr>
              <a:t>What every intermediate student must remember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2768"/>
            <a:ext cx="5760720" cy="144475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572768"/>
            <a:ext cx="64008" cy="14447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6642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6642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No stream is inferior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011680"/>
            <a:ext cx="5394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Calibri"/>
              </a:rPr>
              <a:t>ITI electricians at BHEL, polytechnic site managers, and CA-firm partners — all earn well and live with dignity. The path that matches YOUR strengths is the right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572768"/>
            <a:ext cx="5760720" cy="1444752"/>
          </a:xfrm>
          <a:prstGeom prst="rect">
            <a:avLst/>
          </a:prstGeom>
          <a:solidFill>
            <a:schemeClr val="accent4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572768"/>
            <a:ext cx="64008" cy="14447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6642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5704" y="16642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Entrance exams are not the only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011680"/>
            <a:ext cx="539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Calibri"/>
              </a:rPr>
              <a:t>JEE and NEET are one path. CLAT, NID, POLYCET, CAT, UPSC, PMKVY — every stream has its own respected entrance system. Know them 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145536"/>
            <a:ext cx="5760720" cy="1444752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8600" y="3145536"/>
            <a:ext cx="64008" cy="14447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3192" y="323697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32369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Skills &gt; Certificates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" y="3584448"/>
            <a:ext cx="5394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Calibri"/>
              </a:rPr>
              <a:t>A cybersecurity analyst with a GitHub portfolio and CEH cert can earn more than a </a:t>
            </a:r>
            <a:r>
              <a:rPr sz="1400" b="0" i="0" dirty="0" err="1">
                <a:solidFill>
                  <a:schemeClr val="bg1"/>
                </a:solidFill>
                <a:latin typeface="Calibri"/>
              </a:rPr>
              <a:t>B.Tech</a:t>
            </a:r>
            <a:r>
              <a:rPr sz="1400" b="0" i="0" dirty="0">
                <a:solidFill>
                  <a:schemeClr val="bg1"/>
                </a:solidFill>
                <a:latin typeface="Calibri"/>
              </a:rPr>
              <a:t> graduate without skills. Degrees help, but skills decide your salary.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45536"/>
            <a:ext cx="5760720" cy="1444752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145536"/>
            <a:ext cx="64008" cy="14447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323697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32369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Start researching now — not later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3584448"/>
            <a:ext cx="5394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Calibri"/>
              </a:rPr>
              <a:t>Students who decide their direction in Class 11 have 2+ years to prepare. Students who wait till Class 12 results scramble. Time is the biggest advantage you have.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718304"/>
            <a:ext cx="5760720" cy="1444752"/>
          </a:xfrm>
          <a:prstGeom prst="rect">
            <a:avLst/>
          </a:prstGeom>
          <a:solidFill>
            <a:schemeClr val="bg2">
              <a:lumMod val="25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8600" y="4718304"/>
            <a:ext cx="64008" cy="1444752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3192" y="48097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7185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" y="48097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Scholarships exist for every background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5157216"/>
            <a:ext cx="539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Calibri"/>
              </a:rPr>
              <a:t>PM </a:t>
            </a:r>
            <a:r>
              <a:rPr sz="1400" b="0" i="0" dirty="0" err="1">
                <a:solidFill>
                  <a:schemeClr val="bg1"/>
                </a:solidFill>
                <a:latin typeface="Calibri"/>
              </a:rPr>
              <a:t>Yasasvi</a:t>
            </a:r>
            <a:r>
              <a:rPr sz="1400" b="0" i="0" dirty="0">
                <a:solidFill>
                  <a:schemeClr val="bg1"/>
                </a:solidFill>
                <a:latin typeface="Calibri"/>
              </a:rPr>
              <a:t>, INSPIRE, TS </a:t>
            </a:r>
            <a:r>
              <a:rPr sz="1400" b="0" i="0" dirty="0" err="1">
                <a:solidFill>
                  <a:schemeClr val="bg1"/>
                </a:solidFill>
                <a:latin typeface="Calibri"/>
              </a:rPr>
              <a:t>ePass</a:t>
            </a:r>
            <a:r>
              <a:rPr sz="1400" b="0" i="0" dirty="0">
                <a:solidFill>
                  <a:schemeClr val="bg1"/>
                </a:solidFill>
                <a:latin typeface="Calibri"/>
              </a:rPr>
              <a:t>, PMKVY, KVPY, AICTE Pragati — if you need financial support, apply for multiple scholarships simultaneously.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718304"/>
            <a:ext cx="5760720" cy="1444752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72200" y="4718304"/>
            <a:ext cx="64008" cy="14447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36792" y="48097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onsola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75704" y="48097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Talk to professionals in your dream field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5157216"/>
            <a:ext cx="539496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8"/>
                </a:solidFill>
                <a:latin typeface="Calibri"/>
              </a:rPr>
              <a:t>Reading about a career and living it are very different. Find a mentor — on LinkedIn, at college fests, or in your family network. Their real experience is invaluable.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450058" y="106102"/>
            <a:ext cx="3657600" cy="36576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137527" y="4017335"/>
            <a:ext cx="2743200" cy="27432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26058" y="886289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 dirty="0">
                <a:solidFill>
                  <a:srgbClr val="F0F4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824602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dirty="0">
                <a:solidFill>
                  <a:srgbClr val="00C896"/>
                </a:solidFill>
                <a:latin typeface="Calibri"/>
              </a:rPr>
              <a:t>for your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61488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chemeClr val="bg1"/>
                </a:solidFill>
                <a:latin typeface="Calibri"/>
              </a:rPr>
              <a:t>We hope this presentation helps intermediate students make informed, confident career decisions.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870120"/>
            <a:ext cx="9144000" cy="9144"/>
          </a:xfrm>
          <a:prstGeom prst="rect">
            <a:avLst/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0258" y="3591407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chemeClr val="bg1"/>
                </a:solidFill>
                <a:latin typeface="Consolas"/>
              </a:rPr>
              <a:t>Presented</a:t>
            </a:r>
            <a:r>
              <a:rPr sz="1400" b="0" i="0" dirty="0">
                <a:solidFill>
                  <a:srgbClr val="4A5878"/>
                </a:solidFill>
                <a:latin typeface="Consolas"/>
              </a:rPr>
              <a:t> </a:t>
            </a:r>
            <a:r>
              <a:rPr sz="1400" b="0" i="0" dirty="0">
                <a:solidFill>
                  <a:schemeClr val="bg1"/>
                </a:solidFill>
                <a:latin typeface="Consolas"/>
              </a:rPr>
              <a:t>by:</a:t>
            </a:r>
            <a:endParaRPr lang="en-US" sz="1400" b="0" i="0" dirty="0">
              <a:solidFill>
                <a:schemeClr val="bg1"/>
              </a:solidFill>
              <a:latin typeface="Consolas"/>
            </a:endParaRPr>
          </a:p>
          <a:p>
            <a:pPr algn="ctr"/>
            <a:endParaRPr sz="1400" b="0" i="0" dirty="0">
              <a:solidFill>
                <a:srgbClr val="4A5878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solidFill>
                  <a:srgbClr val="F0F4FF"/>
                </a:solidFill>
                <a:latin typeface="Calibri"/>
              </a:rPr>
              <a:t>B . Govardhan</a:t>
            </a:r>
            <a:endParaRPr sz="1300" b="1" i="0" dirty="0">
              <a:solidFill>
                <a:srgbClr val="F0F4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5212" y="4333177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bg1"/>
                </a:solidFill>
                <a:latin typeface="Calibri"/>
              </a:rPr>
              <a:t>GATES INSTITUTE OF TECHNOLOGY </a:t>
            </a:r>
            <a:r>
              <a:rPr sz="1400" b="0" i="0" dirty="0">
                <a:solidFill>
                  <a:schemeClr val="bg1"/>
                </a:solidFill>
                <a:latin typeface="Calibri"/>
              </a:rPr>
              <a:t> ·  </a:t>
            </a:r>
            <a:r>
              <a:rPr sz="1400" b="0" i="0" dirty="0" err="1">
                <a:solidFill>
                  <a:schemeClr val="bg1"/>
                </a:solidFill>
                <a:latin typeface="Calibri"/>
              </a:rPr>
              <a:t>B.Tech</a:t>
            </a:r>
            <a:r>
              <a:rPr sz="14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0" i="0">
                <a:solidFill>
                  <a:schemeClr val="bg1"/>
                </a:solidFill>
                <a:latin typeface="Calibri"/>
              </a:rPr>
              <a:t>CSE </a:t>
            </a:r>
            <a:r>
              <a:rPr lang="en-US" sz="1400" b="0" i="0">
                <a:solidFill>
                  <a:schemeClr val="bg1"/>
                </a:solidFill>
                <a:latin typeface="Calibri"/>
              </a:rPr>
              <a:t>- B</a:t>
            </a:r>
            <a:r>
              <a:rPr sz="1400" b="0" i="0">
                <a:solidFill>
                  <a:schemeClr val="bg1"/>
                </a:solidFill>
                <a:latin typeface="Calibri"/>
              </a:rPr>
              <a:t> </a:t>
            </a:r>
            <a:r>
              <a:rPr sz="1400" b="0" i="0" dirty="0">
                <a:solidFill>
                  <a:schemeClr val="bg1"/>
                </a:solidFill>
                <a:latin typeface="Calibri"/>
              </a:rPr>
              <a:t>·  202</a:t>
            </a:r>
            <a:r>
              <a:rPr lang="en-US" sz="1400" b="0" i="0" dirty="0">
                <a:solidFill>
                  <a:schemeClr val="bg1"/>
                </a:solidFill>
                <a:latin typeface="Calibri"/>
              </a:rPr>
              <a:t>4 - 2028</a:t>
            </a:r>
            <a:endParaRPr sz="14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86000" y="4937760"/>
            <a:ext cx="7315200" cy="82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59775" y="5049813"/>
            <a:ext cx="26865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0C896"/>
                </a:solidFill>
                <a:latin typeface="Consolas"/>
              </a:rPr>
              <a:t>Interactive portal available: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9775" y="5352857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8B9AB8"/>
                </a:solidFill>
                <a:latin typeface="Calibri"/>
              </a:rPr>
              <a:t>Open in any browser · No internet needed · Fully editable by your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19545"/>
            <a:ext cx="11338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chemeClr val="bg2"/>
                </a:solidFill>
                <a:latin typeface="Consolas"/>
              </a:rPr>
              <a:t>Data sourced from AICTE, NTA, Ministry of Education, NSDC, and industry salary reports · For educational purposes only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A0F6A2-B515-6066-FDE8-A026230DD534}"/>
              </a:ext>
            </a:extLst>
          </p:cNvPr>
          <p:cNvSpPr txBox="1"/>
          <p:nvPr/>
        </p:nvSpPr>
        <p:spPr>
          <a:xfrm>
            <a:off x="4546023" y="5002198"/>
            <a:ext cx="48539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C896"/>
                </a:solidFill>
                <a:latin typeface="Consolas"/>
              </a:rPr>
              <a:t>https://govardhanballari31.github.io/csp1/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2551</Words>
  <Application>Microsoft Office PowerPoint</Application>
  <PresentationFormat>Custom</PresentationFormat>
  <Paragraphs>460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keywords/>
  <dc:description>generated using python-pptx</dc:description>
  <cp:lastModifiedBy>govardhanballari111@gmail.com</cp:lastModifiedBy>
  <cp:revision>5</cp:revision>
  <dcterms:created xsi:type="dcterms:W3CDTF">2013-01-27T09:14:16Z</dcterms:created>
  <dcterms:modified xsi:type="dcterms:W3CDTF">2026-06-03T03:18:42Z</dcterms:modified>
  <cp:category/>
</cp:coreProperties>
</file>